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5965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Mening loyiham — parallel veb-skreyper va matn tahlili tizimi. Unda ikki xil parallelizm birlashtirilgan: tarmoqdan yuklab olish uchun oqimlar va matnni tahlil qilish uchun jarayonlar.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Ketma-ket dasturda har bir sahifa uchun so‘rov yuboriladi va javob kelguncha dastur kutadi. Tarmoq kechikishi bir soniya atrofida, tahlil esa yuzdan bir soniyalar. Demak protsessor deyarli butun vaqt bo‘sh. Bu parallellashtirish uchun eng qulay holat.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Loyihaning to‘rtta vazifasi bor: sahifalarni oqimlar bilan parallel yuklash, matnni jarayonlar bilan parallel tahlil qilish, ikkala bosqichni navbat orqali konveyerga bog‘lash va nihoyat barcha versiyalarni o‘lchab solishtirish.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Loyihada ikki xil ish bor. Yuklab olish I/O-bound: vaqt kutishga ketadi, shuning uchun oqimlar yetarli va ularni yadrolardan ancha ko‘p olish mumkin. Tahlil CPU-bound: vaqt hisobga ketadi, shuning uchun alohida jarayonlar kerak va ularning foydali soni yadrolar soni bilan cheklanadi.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GIL — CPython ichidagi qulf: bir vaqtda faqat bitta oqim Python baytkodini bajaradi. Lekin tarmoqdan javob kutish paytida oqim GIL ni bo‘shatadi, shuning uchun I/O uchun oqimlar yaxshi ishlaydi. Hisoblash uchun esa oqimlar navbat bilan ishlaydi va tezlashish bo‘lmaydi — u yerda har birida alohida GIL bo‘lgan jarayonlar kerak.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Arxitektura konveyer shaklida. Oqimlar sahifalarni yuklab, navbatga qo‘yadi — bular ishlab chiqaruvchilar. Navbatdan sahifani olib, jarayonlar puliga tahlilga beradigan qism — iste’molchi. Oxirida har bir sahifaning so‘zlar hisobi bitta Counter ga birlashtiriladi. Navbat chegaralangan, shuning uchun yuklash tahlildan juda oldinlab ketsa, xotira to‘lib ketmaydi.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Birinchi bosqich kodi. fetch funksiyasi bitta sahifani yuklaydi. ThreadPoolExecutor yigirmata oqim bilan barcha URL larni bir vaqtda yuklaydi, as_completed esa tayyor bo‘lganini darhol navbatga qo‘yadi. Oxirida None yuborib, tahlil bosqichiga ma’lumot tugaganini bildiramiz.</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 bosqich map-reduce sxemasida. analyze funksiyasi alohida jarayonda HTML ni tozalaydi va so‘zlarni sanaydi — bu map. Iste’molchi navbatdan sahifalarni olib, jarayonlarga beradi, keyin har bir Counter ni umumiy Counter ga qo‘shadi — bu reduce. Jarayonlar umumiy o‘zgaruvchiga yozmaydi, natijani qaytaradi, shuning uchun qulf kerak emas. Ikki bosqich bir vaqtda ishlashi uchun yuklash qismi alohida threading.Thread ichida ishga tushiriladi, asosiy oqim esa navbatni o‘qiydi.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Oqimlar orasida ma’lumot faqat queue.Queue orqali o‘tadi — u o‘zi thread-safe. Umumiy hisoblagich bo‘lsa, Lock ishlatiladi. Jarayonlar umumiy xotirani bo‘lishmaydi, ular natijani qaytaradi. Real saytlar bilan ishlaganda robots.txt ga rioya qilish va bitta saytga juda ko‘p so‘rov yubormaslik kerak, aks holda sayt bloklaydi. Tajribani takrorlanadigan qilish uchun lokal sinov serveridan foydalanish mumkin.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Tajribada to‘rtta versiya bir xil URL ro‘yxatida o‘lchanadi: ketma-ket, faqat oqimlar, faqat jarayonlar va gibrid konveyer. Oqimlar va jarayonlar soni o‘zgartirib boriladi. Har bir o‘lchov uch marta takrorlanadi, birinchi yurish hisobga olinmaydi. Oxirida so‘zlar chastotasi ketma-ket versiya natijasi bilan bir xil ekani tekshiriladi.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slaydda real o‘lchov emas, oddiy nazariy model. Yuz sahifa, har biri bir soniya tarmoq kutishi va yuzdan besh soniya tahlil. Ketma-ket — 105 soniya. Faqat oqimlar tarmoqni tezlashtiradi, lekin tahlil GIL tufayli ketma-ket qoladi — 10 soniya. Faqat jarayonlar sakkiz yadro bilan cheklanadi — 13,7 soniya. Gibrid variantda yuklash yigirma oqimda bo‘ladi va tahlil u bilan bir vaqtda ketadi — taxminan 5,6 soniya, ya’ni 19 baravar. Real natija server tezligi va internetga bog‘liq bo‘ladi.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Tezlashishning chegaralari bor. Oqimlar soni ortsa, server bizni bloklashi yoki internet kanali to‘lishi mumkin. Jarayonlarni yaratish Windows’da qimmat. HTML matni jarayonga pickle qilinib uzatiladi, bu ham vaqt oladi. Va natijalarni birlashtirish ketma-ket bajariladi — Amdal qonuniga ko‘ra ketma-ket ulush f bo‘lsa, tezlashish 1/f dan oshmaydi.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parallellashtirish usuli yuklama turiga qarab tanlanadi. Kutish ko‘p bo‘lsa oqimlar, hisoblash ko‘p bo‘lsa jarayonlar. Konveyer ikkalasini bir vaqtda ishlatadi. Tajribada olingan real tezlashish shu yerda aytiladi.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E’tiboringiz uchun rahmat. Savollaringiz bo‘lsa, javob berishga tayyorman.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08A4B"/>
                </a:solidFill>
                <a:latin typeface="JetBrains Mono" pitchFamily="49" charset="0"/>
                <a:ea typeface="JetBrains Mono" pitchFamily="49" charset="-122"/>
                <a:cs typeface="JetBrains Mono" pitchFamily="49" charset="-120"/>
              </a:rPr>
              <a:t>PARALLEL DASTURLASH · PAD2504</a:t>
            </a:r>
            <a:endParaRPr lang="en-US" sz="1400" dirty="0"/>
          </a:p>
        </p:txBody>
      </p:sp>
      <p:sp>
        <p:nvSpPr>
          <p:cNvPr id="3" name="Text 1"/>
          <p:cNvSpPr>
            <a:spLocks noGrp="1"/>
          </p:cNvSpPr>
          <p:nvPr>
            <p:ph type="title"/>
          </p:nvPr>
        </p:nvSpPr>
        <p:spPr>
          <a:xfrm>
            <a:off x="812800" y="213487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6F1"/>
                </a:solidFill>
                <a:latin typeface="IBM Plex Sans" pitchFamily="34" charset="0"/>
                <a:ea typeface="IBM Plex Sans" pitchFamily="34" charset="-122"/>
                <a:cs typeface="IBM Plex Sans" pitchFamily="34" charset="-120"/>
              </a:rPr>
              <a:t>Parallel veb-skreyper</a:t>
            </a:r>
            <a:endParaRPr lang="en-US" sz="6000" dirty="0"/>
          </a:p>
          <a:p>
            <a:pPr marL="0" indent="0" algn="l">
              <a:lnSpc>
                <a:spcPts val="6300"/>
              </a:lnSpc>
              <a:buNone/>
            </a:pPr>
            <a:r>
              <a:rPr lang="en-US" sz="6000" b="1" i="0" dirty="0">
                <a:solidFill>
                  <a:srgbClr val="F7F6F1"/>
                </a:solidFill>
                <a:latin typeface="IBM Plex Sans" pitchFamily="34" charset="0"/>
                <a:ea typeface="IBM Plex Sans" pitchFamily="34" charset="-122"/>
                <a:cs typeface="IBM Plex Sans" pitchFamily="34" charset="-120"/>
              </a:rPr>
              <a:t>va matn tahlili tizimi</a:t>
            </a:r>
            <a:endParaRPr lang="en-US" sz="6000" dirty="0"/>
          </a:p>
        </p:txBody>
      </p:sp>
      <p:sp>
        <p:nvSpPr>
          <p:cNvPr id="4" name="Text 2"/>
          <p:cNvSpPr/>
          <p:nvPr/>
        </p:nvSpPr>
        <p:spPr>
          <a:xfrm>
            <a:off x="812800" y="3989070"/>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3E3"/>
                </a:solidFill>
                <a:latin typeface="IBM Plex Sans" pitchFamily="34" charset="0"/>
                <a:ea typeface="IBM Plex Sans" pitchFamily="34" charset="-122"/>
                <a:cs typeface="IBM Plex Sans" pitchFamily="34" charset="-120"/>
              </a:rPr>
              <a:t>Veb-sahifalarni oqimlar bilan yig‘ish, jarayonlar bilan tahlil qilish</a:t>
            </a:r>
            <a:endParaRPr lang="en-US" sz="2200" dirty="0"/>
          </a:p>
        </p:txBody>
      </p:sp>
      <p:sp>
        <p:nvSpPr>
          <p:cNvPr id="5" name="Text 3"/>
          <p:cNvSpPr/>
          <p:nvPr/>
        </p:nvSpPr>
        <p:spPr>
          <a:xfrm>
            <a:off x="812800" y="5425440"/>
            <a:ext cx="486021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6F1"/>
                </a:solidFill>
                <a:latin typeface="IBM Plex Sans" pitchFamily="34" charset="0"/>
                <a:ea typeface="IBM Plex Sans" pitchFamily="34" charset="-122"/>
                <a:cs typeface="IBM Plex Sans" pitchFamily="34" charset="-120"/>
              </a:rPr>
              <a:t>Bajardi: </a:t>
            </a:r>
            <a:r>
              <a:rPr lang="en-US" sz="1600" dirty="0" err="1">
                <a:solidFill>
                  <a:srgbClr val="F7F6F1"/>
                </a:solidFill>
                <a:latin typeface="IBM Plex Sans" pitchFamily="34" charset="0"/>
                <a:ea typeface="IBM Plex Sans" pitchFamily="34" charset="-122"/>
                <a:cs typeface="IBM Plex Sans" pitchFamily="34" charset="-120"/>
              </a:rPr>
              <a:t>Boltayev</a:t>
            </a:r>
            <a:r>
              <a:rPr lang="en-US" sz="1600" dirty="0">
                <a:solidFill>
                  <a:srgbClr val="F7F6F1"/>
                </a:solidFill>
                <a:latin typeface="IBM Plex Sans" pitchFamily="34" charset="0"/>
                <a:ea typeface="IBM Plex Sans" pitchFamily="34" charset="-122"/>
                <a:cs typeface="IBM Plex Sans" pitchFamily="34" charset="-120"/>
              </a:rPr>
              <a:t> Elbek, </a:t>
            </a:r>
            <a:r>
              <a:rPr lang="en-US" sz="1600" dirty="0" err="1">
                <a:solidFill>
                  <a:srgbClr val="F7F6F1"/>
                </a:solidFill>
                <a:latin typeface="IBM Plex Sans" pitchFamily="34" charset="0"/>
                <a:ea typeface="IBM Plex Sans" pitchFamily="34" charset="-122"/>
                <a:cs typeface="IBM Plex Sans" pitchFamily="34" charset="-120"/>
              </a:rPr>
              <a:t>Soyibjonov</a:t>
            </a:r>
            <a:r>
              <a:rPr lang="en-US" sz="1600" dirty="0">
                <a:solidFill>
                  <a:srgbClr val="F7F6F1"/>
                </a:solidFill>
                <a:latin typeface="IBM Plex Sans" pitchFamily="34" charset="0"/>
                <a:ea typeface="IBM Plex Sans" pitchFamily="34" charset="-122"/>
                <a:cs typeface="IBM Plex Sans" pitchFamily="34" charset="-120"/>
              </a:rPr>
              <a:t> Otabek</a:t>
            </a:r>
            <a:endParaRPr lang="en-US" sz="1600" dirty="0"/>
          </a:p>
        </p:txBody>
      </p:sp>
      <p:sp>
        <p:nvSpPr>
          <p:cNvPr id="6" name="Text 4"/>
          <p:cNvSpPr/>
          <p:nvPr/>
        </p:nvSpPr>
        <p:spPr>
          <a:xfrm>
            <a:off x="812800" y="5760720"/>
            <a:ext cx="5009502" cy="309880"/>
          </a:xfrm>
          <a:prstGeom prst="rect">
            <a:avLst/>
          </a:prstGeom>
          <a:noFill/>
          <a:ln/>
        </p:spPr>
        <p:txBody>
          <a:bodyPr wrap="square" lIns="0" tIns="0" rIns="0" bIns="0" rtlCol="0" anchor="t">
            <a:normAutofit/>
          </a:bodyPr>
          <a:lstStyle/>
          <a:p>
            <a:pPr marL="0" indent="0" algn="l">
              <a:lnSpc>
                <a:spcPct val="100000"/>
              </a:lnSpc>
              <a:buNone/>
            </a:pPr>
            <a:r>
              <a:rPr lang="en-US" sz="1600" dirty="0" err="1">
                <a:solidFill>
                  <a:srgbClr val="C9D3E3"/>
                </a:solidFill>
                <a:latin typeface="IBM Plex Sans" pitchFamily="34" charset="0"/>
                <a:ea typeface="IBM Plex Sans" pitchFamily="34" charset="-122"/>
                <a:cs typeface="IBM Plex Sans" pitchFamily="34" charset="-120"/>
              </a:rPr>
              <a:t>Tekshirdi</a:t>
            </a:r>
            <a:r>
              <a:rPr lang="en-US" sz="1600" dirty="0">
                <a:solidFill>
                  <a:srgbClr val="C9D3E3"/>
                </a:solidFill>
                <a:latin typeface="IBM Plex Sans" pitchFamily="34" charset="0"/>
                <a:ea typeface="IBM Plex Sans" pitchFamily="34" charset="-122"/>
                <a:cs typeface="IBM Plex Sans" pitchFamily="34" charset="-120"/>
              </a:rPr>
              <a:t>: Musayev </a:t>
            </a:r>
            <a:r>
              <a:rPr lang="en-US" sz="1600" dirty="0" err="1">
                <a:solidFill>
                  <a:srgbClr val="C9D3E3"/>
                </a:solidFill>
                <a:latin typeface="IBM Plex Sans" pitchFamily="34" charset="0"/>
                <a:ea typeface="IBM Plex Sans" pitchFamily="34" charset="-122"/>
                <a:cs typeface="IBM Plex Sans" pitchFamily="34" charset="-120"/>
              </a:rPr>
              <a:t>Musabek</a:t>
            </a:r>
            <a:r>
              <a:rPr lang="en-US" sz="1600" dirty="0">
                <a:solidFill>
                  <a:srgbClr val="C9D3E3"/>
                </a:solidFill>
                <a:latin typeface="IBM Plex Sans" pitchFamily="34" charset="0"/>
                <a:ea typeface="IBM Plex Sans" pitchFamily="34" charset="-122"/>
                <a:cs typeface="IBM Plex Sans" pitchFamily="34" charset="-120"/>
              </a:rPr>
              <a:t> Ural </a:t>
            </a:r>
            <a:r>
              <a:rPr lang="en-US" sz="1600" dirty="0" err="1">
                <a:solidFill>
                  <a:srgbClr val="C9D3E3"/>
                </a:solidFill>
                <a:latin typeface="IBM Plex Sans" pitchFamily="34" charset="0"/>
                <a:ea typeface="IBM Plex Sans" pitchFamily="34" charset="-122"/>
                <a:cs typeface="IBM Plex Sans" pitchFamily="34" charset="-120"/>
              </a:rPr>
              <a:t>o‘g‘li</a:t>
            </a:r>
            <a:endParaRPr lang="en-US" sz="1600" dirty="0"/>
          </a:p>
        </p:txBody>
      </p:sp>
      <p:sp>
        <p:nvSpPr>
          <p:cNvPr id="7" name="Text 5"/>
          <p:cNvSpPr/>
          <p:nvPr/>
        </p:nvSpPr>
        <p:spPr>
          <a:xfrm>
            <a:off x="8973185" y="5760720"/>
            <a:ext cx="2406015" cy="309880"/>
          </a:xfrm>
          <a:prstGeom prst="rect">
            <a:avLst/>
          </a:prstGeom>
          <a:noFill/>
          <a:ln/>
        </p:spPr>
        <p:txBody>
          <a:bodyPr wrap="square" lIns="0" tIns="0" rIns="0" bIns="0" rtlCol="0" anchor="t">
            <a:normAutofit/>
          </a:bodyPr>
          <a:lstStyle/>
          <a:p>
            <a:pPr marL="0" indent="0" algn="r">
              <a:lnSpc>
                <a:spcPts val="2240"/>
              </a:lnSpc>
              <a:buNone/>
            </a:pPr>
            <a:r>
              <a:rPr lang="en-US" sz="1600" dirty="0">
                <a:solidFill>
                  <a:srgbClr val="C9D3E3"/>
                </a:solidFill>
                <a:latin typeface="IBM Plex Sans" pitchFamily="34" charset="0"/>
                <a:ea typeface="IBM Plex Sans" pitchFamily="34" charset="-122"/>
                <a:cs typeface="IBM Plex Sans" pitchFamily="34" charset="-120"/>
              </a:rPr>
              <a:t>TATU · Toshkent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MUAMMO</a:t>
            </a:r>
            <a:endParaRPr lang="en-US" sz="1200" dirty="0"/>
          </a:p>
        </p:txBody>
      </p:sp>
      <p:sp>
        <p:nvSpPr>
          <p:cNvPr id="3" name="Text 1"/>
          <p:cNvSpPr>
            <a:spLocks noGrp="1"/>
          </p:cNvSpPr>
          <p:nvPr>
            <p:ph type="title"/>
          </p:nvPr>
        </p:nvSpPr>
        <p:spPr>
          <a:xfrm>
            <a:off x="812800" y="112776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Ketma-ket skreyper vaqtining katta qismi kutish bilan o‘tadi</a:t>
            </a:r>
            <a:endParaRPr lang="en-US" sz="3600" dirty="0"/>
          </a:p>
        </p:txBody>
      </p:sp>
      <p:sp>
        <p:nvSpPr>
          <p:cNvPr id="4" name="Shape 2"/>
          <p:cNvSpPr/>
          <p:nvPr/>
        </p:nvSpPr>
        <p:spPr>
          <a:xfrm>
            <a:off x="815975" y="2492375"/>
            <a:ext cx="6699250" cy="2335530"/>
          </a:xfrm>
          <a:prstGeom prst="roundRect">
            <a:avLst>
              <a:gd name="adj" fmla="val 4214"/>
            </a:avLst>
          </a:prstGeom>
          <a:solidFill>
            <a:srgbClr val="FFFFFF"/>
          </a:solidFill>
          <a:ln w="6350">
            <a:solidFill>
              <a:srgbClr val="E1DED4"/>
            </a:solidFill>
            <a:prstDash val="solid"/>
          </a:ln>
        </p:spPr>
      </p:sp>
      <p:sp>
        <p:nvSpPr>
          <p:cNvPr id="5" name="Text 3"/>
          <p:cNvSpPr/>
          <p:nvPr/>
        </p:nvSpPr>
        <p:spPr>
          <a:xfrm>
            <a:off x="1122680" y="2799080"/>
            <a:ext cx="626841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Bitta sahifa (taxminiy)</a:t>
            </a:r>
            <a:endParaRPr lang="en-US" sz="1200" dirty="0"/>
          </a:p>
        </p:txBody>
      </p:sp>
      <p:sp>
        <p:nvSpPr>
          <p:cNvPr id="6" name="Shape 4"/>
          <p:cNvSpPr/>
          <p:nvPr/>
        </p:nvSpPr>
        <p:spPr>
          <a:xfrm>
            <a:off x="1122680" y="3139440"/>
            <a:ext cx="4064000" cy="304800"/>
          </a:xfrm>
          <a:prstGeom prst="roundRect">
            <a:avLst>
              <a:gd name="adj" fmla="val 16667"/>
            </a:avLst>
          </a:prstGeom>
          <a:solidFill>
            <a:srgbClr val="E86A2C"/>
          </a:solidFill>
          <a:ln/>
        </p:spPr>
      </p:sp>
      <p:sp>
        <p:nvSpPr>
          <p:cNvPr id="7" name="Text 5"/>
          <p:cNvSpPr/>
          <p:nvPr/>
        </p:nvSpPr>
        <p:spPr>
          <a:xfrm>
            <a:off x="5339080" y="3149600"/>
            <a:ext cx="1322641"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~1 s tarmoq</a:t>
            </a:r>
            <a:endParaRPr lang="en-US" sz="1600" dirty="0"/>
          </a:p>
        </p:txBody>
      </p:sp>
      <p:sp>
        <p:nvSpPr>
          <p:cNvPr id="8" name="Shape 6"/>
          <p:cNvSpPr/>
          <p:nvPr/>
        </p:nvSpPr>
        <p:spPr>
          <a:xfrm>
            <a:off x="1122680" y="3520440"/>
            <a:ext cx="203200" cy="304800"/>
          </a:xfrm>
          <a:prstGeom prst="roundRect">
            <a:avLst>
              <a:gd name="adj" fmla="val 25000"/>
            </a:avLst>
          </a:prstGeom>
          <a:solidFill>
            <a:srgbClr val="1F5FAE"/>
          </a:solidFill>
          <a:ln/>
        </p:spPr>
      </p:sp>
      <p:sp>
        <p:nvSpPr>
          <p:cNvPr id="9" name="Text 7"/>
          <p:cNvSpPr/>
          <p:nvPr/>
        </p:nvSpPr>
        <p:spPr>
          <a:xfrm>
            <a:off x="1478280" y="3530600"/>
            <a:ext cx="143332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~0,05 s tahlil</a:t>
            </a:r>
            <a:endParaRPr lang="en-US" sz="1600" dirty="0"/>
          </a:p>
        </p:txBody>
      </p:sp>
      <p:sp>
        <p:nvSpPr>
          <p:cNvPr id="10" name="Text 8"/>
          <p:cNvSpPr/>
          <p:nvPr/>
        </p:nvSpPr>
        <p:spPr>
          <a:xfrm>
            <a:off x="1122680" y="3952240"/>
            <a:ext cx="6268415"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Javobni kutayotganda protsessor bo‘sh turadi. 100 ta sahifa ketma-ket ≈ </a:t>
            </a:r>
            <a:r>
              <a:rPr lang="en-US" sz="1600" b="1" dirty="0">
                <a:solidFill>
                  <a:srgbClr val="14213D"/>
                </a:solidFill>
                <a:latin typeface="IBM Plex Sans" pitchFamily="34" charset="0"/>
                <a:ea typeface="IBM Plex Sans" pitchFamily="34" charset="-122"/>
                <a:cs typeface="IBM Plex Sans" pitchFamily="34" charset="-120"/>
              </a:rPr>
              <a:t>105 s</a:t>
            </a:r>
            <a:r>
              <a:rPr lang="en-US" sz="1600" dirty="0">
                <a:solidFill>
                  <a:srgbClr val="4A5568"/>
                </a:solidFill>
                <a:latin typeface="IBM Plex Sans" pitchFamily="34" charset="0"/>
                <a:ea typeface="IBM Plex Sans" pitchFamily="34" charset="-122"/>
                <a:cs typeface="IBM Plex Sans" pitchFamily="34" charset="-120"/>
              </a:rPr>
              <a:t>.</a:t>
            </a:r>
            <a:endParaRPr lang="en-US" sz="1600" dirty="0"/>
          </a:p>
        </p:txBody>
      </p:sp>
      <p:sp>
        <p:nvSpPr>
          <p:cNvPr id="11" name="Shape 9"/>
          <p:cNvSpPr/>
          <p:nvPr/>
        </p:nvSpPr>
        <p:spPr>
          <a:xfrm>
            <a:off x="7823200" y="2489200"/>
            <a:ext cx="3556000" cy="2341880"/>
          </a:xfrm>
          <a:prstGeom prst="roundRect">
            <a:avLst>
              <a:gd name="adj" fmla="val 4338"/>
            </a:avLst>
          </a:prstGeom>
          <a:solidFill>
            <a:srgbClr val="14213D"/>
          </a:solidFill>
          <a:ln/>
        </p:spPr>
      </p:sp>
      <p:sp>
        <p:nvSpPr>
          <p:cNvPr id="12" name="Text 10"/>
          <p:cNvSpPr/>
          <p:nvPr/>
        </p:nvSpPr>
        <p:spPr>
          <a:xfrm>
            <a:off x="8128000" y="2918460"/>
            <a:ext cx="303479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08A4B"/>
                </a:solidFill>
                <a:latin typeface="IBM Plex Sans" pitchFamily="34" charset="0"/>
                <a:ea typeface="IBM Plex Sans" pitchFamily="34" charset="-122"/>
                <a:cs typeface="IBM Plex Sans" pitchFamily="34" charset="-120"/>
              </a:rPr>
              <a:t>~95 %</a:t>
            </a:r>
            <a:endParaRPr lang="en-US" sz="6000" dirty="0"/>
          </a:p>
        </p:txBody>
      </p:sp>
      <p:sp>
        <p:nvSpPr>
          <p:cNvPr id="13" name="Text 11"/>
          <p:cNvSpPr/>
          <p:nvPr/>
        </p:nvSpPr>
        <p:spPr>
          <a:xfrm>
            <a:off x="8128000" y="3832860"/>
            <a:ext cx="30347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6F1"/>
                </a:solidFill>
                <a:latin typeface="IBM Plex Sans" pitchFamily="34" charset="0"/>
                <a:ea typeface="IBM Plex Sans" pitchFamily="34" charset="-122"/>
                <a:cs typeface="IBM Plex Sans" pitchFamily="34" charset="-120"/>
              </a:rPr>
              <a:t>vaqt — server javobini kutish. Uni parallel kutish mumkin.</a:t>
            </a:r>
            <a:endParaRPr lang="en-US" sz="16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Raqamlar — tipik qiymatlar asosidagi taxmin; aniq qiymatlar tajribada o‘lchanadi.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MAQSAD VA VAZIFALAR</a:t>
            </a:r>
            <a:endParaRPr lang="en-US" sz="1200" dirty="0"/>
          </a:p>
        </p:txBody>
      </p:sp>
      <p:sp>
        <p:nvSpPr>
          <p:cNvPr id="3" name="Text 1"/>
          <p:cNvSpPr>
            <a:spLocks noGrp="1"/>
          </p:cNvSpPr>
          <p:nvPr>
            <p:ph type="title"/>
          </p:nvPr>
        </p:nvSpPr>
        <p:spPr>
          <a:xfrm>
            <a:off x="812800" y="1127761"/>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Har bir yuklama turiga mos parallel vositani tanlash</a:t>
            </a:r>
            <a:endParaRPr lang="en-US" sz="3600" dirty="0"/>
          </a:p>
        </p:txBody>
      </p:sp>
      <p:sp>
        <p:nvSpPr>
          <p:cNvPr id="4" name="Shape 2"/>
          <p:cNvSpPr/>
          <p:nvPr/>
        </p:nvSpPr>
        <p:spPr>
          <a:xfrm>
            <a:off x="815975" y="2492375"/>
            <a:ext cx="5175250" cy="1055370"/>
          </a:xfrm>
          <a:prstGeom prst="roundRect">
            <a:avLst>
              <a:gd name="adj" fmla="val 9326"/>
            </a:avLst>
          </a:prstGeom>
          <a:solidFill>
            <a:srgbClr val="FFFFFF"/>
          </a:solidFill>
          <a:ln w="6350">
            <a:solidFill>
              <a:srgbClr val="E1DED4"/>
            </a:solidFill>
            <a:prstDash val="solid"/>
          </a:ln>
        </p:spPr>
      </p:sp>
      <p:sp>
        <p:nvSpPr>
          <p:cNvPr id="5" name="Text 3"/>
          <p:cNvSpPr/>
          <p:nvPr/>
        </p:nvSpPr>
        <p:spPr>
          <a:xfrm>
            <a:off x="1071880" y="2748280"/>
            <a:ext cx="21844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9501B"/>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1391920" y="2748280"/>
            <a:ext cx="355885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Parallel yuklab olish</a:t>
            </a:r>
            <a:endParaRPr lang="en-US" sz="1600" dirty="0"/>
          </a:p>
        </p:txBody>
      </p:sp>
      <p:sp>
        <p:nvSpPr>
          <p:cNvPr id="7" name="Text 5"/>
          <p:cNvSpPr/>
          <p:nvPr/>
        </p:nvSpPr>
        <p:spPr>
          <a:xfrm>
            <a:off x="1391920" y="3042920"/>
            <a:ext cx="414623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ThreadPoolExecutor bilan 50–100 ta sahifa</a:t>
            </a:r>
            <a:endParaRPr lang="en-US" sz="1400" dirty="0"/>
          </a:p>
        </p:txBody>
      </p:sp>
      <p:sp>
        <p:nvSpPr>
          <p:cNvPr id="8" name="Shape 6"/>
          <p:cNvSpPr/>
          <p:nvPr/>
        </p:nvSpPr>
        <p:spPr>
          <a:xfrm>
            <a:off x="6200775" y="2492375"/>
            <a:ext cx="5175250" cy="1055370"/>
          </a:xfrm>
          <a:prstGeom prst="roundRect">
            <a:avLst>
              <a:gd name="adj" fmla="val 9326"/>
            </a:avLst>
          </a:prstGeom>
          <a:solidFill>
            <a:srgbClr val="FFFFFF"/>
          </a:solidFill>
          <a:ln w="6350">
            <a:solidFill>
              <a:srgbClr val="E1DED4"/>
            </a:solidFill>
            <a:prstDash val="solid"/>
          </a:ln>
        </p:spPr>
      </p:sp>
      <p:sp>
        <p:nvSpPr>
          <p:cNvPr id="9" name="Text 7"/>
          <p:cNvSpPr/>
          <p:nvPr/>
        </p:nvSpPr>
        <p:spPr>
          <a:xfrm>
            <a:off x="6456680" y="2748280"/>
            <a:ext cx="21844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F5FAE"/>
                </a:solidFill>
                <a:latin typeface="JetBrains Mono" pitchFamily="49" charset="0"/>
                <a:ea typeface="JetBrains Mono" pitchFamily="49" charset="-122"/>
                <a:cs typeface="JetBrains Mono" pitchFamily="49" charset="-120"/>
              </a:rPr>
              <a:t>2</a:t>
            </a:r>
            <a:endParaRPr lang="en-US" sz="2200" dirty="0"/>
          </a:p>
        </p:txBody>
      </p:sp>
      <p:sp>
        <p:nvSpPr>
          <p:cNvPr id="10" name="Text 8"/>
          <p:cNvSpPr/>
          <p:nvPr/>
        </p:nvSpPr>
        <p:spPr>
          <a:xfrm>
            <a:off x="6776720" y="2748280"/>
            <a:ext cx="325741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Parallel matn tahlili</a:t>
            </a:r>
            <a:endParaRPr lang="en-US" sz="1600" dirty="0"/>
          </a:p>
        </p:txBody>
      </p:sp>
      <p:sp>
        <p:nvSpPr>
          <p:cNvPr id="11" name="Text 9"/>
          <p:cNvSpPr/>
          <p:nvPr/>
        </p:nvSpPr>
        <p:spPr>
          <a:xfrm>
            <a:off x="6776720" y="3042920"/>
            <a:ext cx="37950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ProcessPoolExecutor: so‘zlar chastotasi</a:t>
            </a:r>
            <a:endParaRPr lang="en-US" sz="1400" dirty="0"/>
          </a:p>
        </p:txBody>
      </p:sp>
      <p:sp>
        <p:nvSpPr>
          <p:cNvPr id="12" name="Shape 10"/>
          <p:cNvSpPr/>
          <p:nvPr/>
        </p:nvSpPr>
        <p:spPr>
          <a:xfrm>
            <a:off x="815975" y="3757295"/>
            <a:ext cx="5175250" cy="1055370"/>
          </a:xfrm>
          <a:prstGeom prst="roundRect">
            <a:avLst>
              <a:gd name="adj" fmla="val 9326"/>
            </a:avLst>
          </a:prstGeom>
          <a:solidFill>
            <a:srgbClr val="FFFFFF"/>
          </a:solidFill>
          <a:ln w="6350">
            <a:solidFill>
              <a:srgbClr val="E1DED4"/>
            </a:solidFill>
            <a:prstDash val="solid"/>
          </a:ln>
        </p:spPr>
      </p:sp>
      <p:sp>
        <p:nvSpPr>
          <p:cNvPr id="13" name="Text 11"/>
          <p:cNvSpPr/>
          <p:nvPr/>
        </p:nvSpPr>
        <p:spPr>
          <a:xfrm>
            <a:off x="1071880" y="4013200"/>
            <a:ext cx="21844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JetBrains Mono" pitchFamily="49" charset="0"/>
                <a:ea typeface="JetBrains Mono" pitchFamily="49" charset="-122"/>
                <a:cs typeface="JetBrains Mono" pitchFamily="49" charset="-120"/>
              </a:rPr>
              <a:t>3</a:t>
            </a:r>
            <a:endParaRPr lang="en-US" sz="2200" dirty="0"/>
          </a:p>
        </p:txBody>
      </p:sp>
      <p:sp>
        <p:nvSpPr>
          <p:cNvPr id="14" name="Text 12"/>
          <p:cNvSpPr/>
          <p:nvPr/>
        </p:nvSpPr>
        <p:spPr>
          <a:xfrm>
            <a:off x="1391920" y="4013200"/>
            <a:ext cx="33740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Konveyer orqali bog‘lash</a:t>
            </a:r>
            <a:endParaRPr lang="en-US" sz="1600" dirty="0"/>
          </a:p>
        </p:txBody>
      </p:sp>
      <p:sp>
        <p:nvSpPr>
          <p:cNvPr id="15" name="Text 13"/>
          <p:cNvSpPr/>
          <p:nvPr/>
        </p:nvSpPr>
        <p:spPr>
          <a:xfrm>
            <a:off x="1391920" y="4307841"/>
            <a:ext cx="39309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queue.Queue: yuklash va tahlil bir vaqtda</a:t>
            </a:r>
            <a:endParaRPr lang="en-US" sz="1400" dirty="0"/>
          </a:p>
        </p:txBody>
      </p:sp>
      <p:sp>
        <p:nvSpPr>
          <p:cNvPr id="16" name="Shape 14"/>
          <p:cNvSpPr/>
          <p:nvPr/>
        </p:nvSpPr>
        <p:spPr>
          <a:xfrm>
            <a:off x="6200775" y="3757295"/>
            <a:ext cx="5175250" cy="1055370"/>
          </a:xfrm>
          <a:prstGeom prst="roundRect">
            <a:avLst>
              <a:gd name="adj" fmla="val 9326"/>
            </a:avLst>
          </a:prstGeom>
          <a:solidFill>
            <a:srgbClr val="FFFFFF"/>
          </a:solidFill>
          <a:ln w="6350">
            <a:solidFill>
              <a:srgbClr val="E1DED4"/>
            </a:solidFill>
            <a:prstDash val="solid"/>
          </a:ln>
        </p:spPr>
      </p:sp>
      <p:sp>
        <p:nvSpPr>
          <p:cNvPr id="17" name="Text 15"/>
          <p:cNvSpPr/>
          <p:nvPr/>
        </p:nvSpPr>
        <p:spPr>
          <a:xfrm>
            <a:off x="6456680" y="4013200"/>
            <a:ext cx="21844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JetBrains Mono" pitchFamily="49" charset="0"/>
                <a:ea typeface="JetBrains Mono" pitchFamily="49" charset="-122"/>
                <a:cs typeface="JetBrains Mono" pitchFamily="49" charset="-120"/>
              </a:rPr>
              <a:t>4</a:t>
            </a:r>
            <a:endParaRPr lang="en-US" sz="2200" dirty="0"/>
          </a:p>
        </p:txBody>
      </p:sp>
      <p:sp>
        <p:nvSpPr>
          <p:cNvPr id="18" name="Text 16"/>
          <p:cNvSpPr/>
          <p:nvPr/>
        </p:nvSpPr>
        <p:spPr>
          <a:xfrm>
            <a:off x="6776720" y="4013200"/>
            <a:ext cx="320893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O‘lchash va solishtirish</a:t>
            </a:r>
            <a:endParaRPr lang="en-US" sz="1600" dirty="0"/>
          </a:p>
        </p:txBody>
      </p:sp>
      <p:sp>
        <p:nvSpPr>
          <p:cNvPr id="19" name="Text 17"/>
          <p:cNvSpPr/>
          <p:nvPr/>
        </p:nvSpPr>
        <p:spPr>
          <a:xfrm>
            <a:off x="6776720" y="4307841"/>
            <a:ext cx="373856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4 ta versiya, tezlashish va samaradorlik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NAZARIYA</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Ikki xil yuklama — ikki xil vosita</a:t>
            </a:r>
            <a:endParaRPr lang="en-US" sz="3600" dirty="0"/>
          </a:p>
        </p:txBody>
      </p:sp>
      <p:sp>
        <p:nvSpPr>
          <p:cNvPr id="4" name="Shape 2"/>
          <p:cNvSpPr/>
          <p:nvPr/>
        </p:nvSpPr>
        <p:spPr>
          <a:xfrm>
            <a:off x="812800" y="1935480"/>
            <a:ext cx="10566400" cy="2316480"/>
          </a:xfrm>
          <a:prstGeom prst="rect">
            <a:avLst/>
          </a:prstGeom>
          <a:solidFill>
            <a:srgbClr val="FFFFFF"/>
          </a:solidFill>
          <a:ln/>
        </p:spPr>
      </p:sp>
      <p:sp>
        <p:nvSpPr>
          <p:cNvPr id="5" name="Shape 3"/>
          <p:cNvSpPr/>
          <p:nvPr/>
        </p:nvSpPr>
        <p:spPr>
          <a:xfrm>
            <a:off x="11376025" y="1935480"/>
            <a:ext cx="0" cy="2316480"/>
          </a:xfrm>
          <a:prstGeom prst="line">
            <a:avLst/>
          </a:prstGeom>
          <a:noFill/>
          <a:ln w="6350">
            <a:solidFill>
              <a:srgbClr val="E1DED4"/>
            </a:solidFill>
            <a:prstDash val="solid"/>
          </a:ln>
        </p:spPr>
      </p:sp>
      <p:sp>
        <p:nvSpPr>
          <p:cNvPr id="6" name="Shape 4"/>
          <p:cNvSpPr/>
          <p:nvPr/>
        </p:nvSpPr>
        <p:spPr>
          <a:xfrm>
            <a:off x="812800" y="4248785"/>
            <a:ext cx="10566400" cy="0"/>
          </a:xfrm>
          <a:prstGeom prst="line">
            <a:avLst/>
          </a:prstGeom>
          <a:noFill/>
          <a:ln w="6350">
            <a:solidFill>
              <a:srgbClr val="E1DED4"/>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945640"/>
          <a:ext cx="10551161" cy="2301240"/>
        </p:xfrm>
        <a:graphic>
          <a:graphicData uri="http://schemas.openxmlformats.org/drawingml/2006/table">
            <a:tbl>
              <a:tblPr/>
              <a:tblGrid>
                <a:gridCol w="2954325">
                  <a:extLst>
                    <a:ext uri="{9D8B030D-6E8A-4147-A177-3AD203B41FA5}">
                      <a16:colId xmlns:a16="http://schemas.microsoft.com/office/drawing/2014/main" val="20000"/>
                    </a:ext>
                  </a:extLst>
                </a:gridCol>
                <a:gridCol w="3798418">
                  <a:extLst>
                    <a:ext uri="{9D8B030D-6E8A-4147-A177-3AD203B41FA5}">
                      <a16:colId xmlns:a16="http://schemas.microsoft.com/office/drawing/2014/main" val="20001"/>
                    </a:ext>
                  </a:extLst>
                </a:gridCol>
                <a:gridCol w="3798418">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Belgi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Yuklab olish — I/O-bound</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Tahlil — CPU-bound</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Vaqt nimaga ketadi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Server javobini kutish</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HTML tozalash, so‘z sanash</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Vosita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ThreadPoolExecutor / asyncio</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ProcessPoolExecutor</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GIL ta’siri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Kutishda GIL bo‘shaydi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Bitta jarayonda ketma-ket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Ishchilar soni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Yadrolardan ko‘p: 20–50</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 yadrolar soni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Chegara</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Server, tarmoq kengligi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Yadrolar, Amdal qonuni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GIL — GLOBAL INTERPRETER LOCK</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Nega yuklashga oqim, tahlilga jarayon?</a:t>
            </a:r>
            <a:endParaRPr lang="en-US" sz="3600" dirty="0"/>
          </a:p>
        </p:txBody>
      </p:sp>
      <p:sp>
        <p:nvSpPr>
          <p:cNvPr id="4" name="Shape 2"/>
          <p:cNvSpPr/>
          <p:nvPr/>
        </p:nvSpPr>
        <p:spPr>
          <a:xfrm>
            <a:off x="815975" y="1989457"/>
            <a:ext cx="5124450" cy="2391410"/>
          </a:xfrm>
          <a:prstGeom prst="roundRect">
            <a:avLst>
              <a:gd name="adj" fmla="val 4116"/>
            </a:avLst>
          </a:prstGeom>
          <a:solidFill>
            <a:srgbClr val="FFFFFF"/>
          </a:solidFill>
          <a:ln w="6350">
            <a:solidFill>
              <a:srgbClr val="E1DED4"/>
            </a:solidFill>
            <a:prstDash val="solid"/>
          </a:ln>
        </p:spPr>
      </p:sp>
      <p:sp>
        <p:nvSpPr>
          <p:cNvPr id="5" name="Text 3"/>
          <p:cNvSpPr/>
          <p:nvPr/>
        </p:nvSpPr>
        <p:spPr>
          <a:xfrm>
            <a:off x="1122680" y="2296161"/>
            <a:ext cx="464637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Oqimlar + kutish</a:t>
            </a:r>
            <a:endParaRPr lang="en-US" sz="2200" dirty="0"/>
          </a:p>
        </p:txBody>
      </p:sp>
      <p:sp>
        <p:nvSpPr>
          <p:cNvPr id="6" name="Text 4"/>
          <p:cNvSpPr/>
          <p:nvPr/>
        </p:nvSpPr>
        <p:spPr>
          <a:xfrm>
            <a:off x="1122680" y="2783839"/>
            <a:ext cx="4646371"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Oqim tarmoq javobini kutganda GIL ni qo‘yib yuboradi. 20 ta oqim 20 ta javobni bir vaqtda kutadi.</a:t>
            </a:r>
            <a:endParaRPr lang="en-US" sz="1600" dirty="0"/>
          </a:p>
        </p:txBody>
      </p:sp>
      <p:sp>
        <p:nvSpPr>
          <p:cNvPr id="7" name="Text 5"/>
          <p:cNvSpPr/>
          <p:nvPr/>
        </p:nvSpPr>
        <p:spPr>
          <a:xfrm>
            <a:off x="1122680" y="3789682"/>
            <a:ext cx="4646371"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9501B"/>
                </a:solidFill>
                <a:latin typeface="IBM Plex Sans" pitchFamily="34" charset="0"/>
                <a:ea typeface="IBM Plex Sans" pitchFamily="34" charset="-122"/>
                <a:cs typeface="IBM Plex Sans" pitchFamily="34" charset="-120"/>
              </a:rPr>
              <a:t>Natija: tezlashish bor</a:t>
            </a:r>
            <a:endParaRPr lang="en-US" sz="1600" dirty="0"/>
          </a:p>
        </p:txBody>
      </p:sp>
      <p:sp>
        <p:nvSpPr>
          <p:cNvPr id="8" name="Shape 6"/>
          <p:cNvSpPr/>
          <p:nvPr/>
        </p:nvSpPr>
        <p:spPr>
          <a:xfrm>
            <a:off x="6251575" y="1989457"/>
            <a:ext cx="5124450" cy="2391410"/>
          </a:xfrm>
          <a:prstGeom prst="roundRect">
            <a:avLst>
              <a:gd name="adj" fmla="val 4116"/>
            </a:avLst>
          </a:prstGeom>
          <a:solidFill>
            <a:srgbClr val="FFFFFF"/>
          </a:solidFill>
          <a:ln w="6350">
            <a:solidFill>
              <a:srgbClr val="E1DED4"/>
            </a:solidFill>
            <a:prstDash val="solid"/>
          </a:ln>
        </p:spPr>
      </p:sp>
      <p:sp>
        <p:nvSpPr>
          <p:cNvPr id="9" name="Text 7"/>
          <p:cNvSpPr/>
          <p:nvPr/>
        </p:nvSpPr>
        <p:spPr>
          <a:xfrm>
            <a:off x="6558280" y="2296161"/>
            <a:ext cx="464637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Oqimlar + hisoblash</a:t>
            </a:r>
            <a:endParaRPr lang="en-US" sz="2200" dirty="0"/>
          </a:p>
        </p:txBody>
      </p:sp>
      <p:sp>
        <p:nvSpPr>
          <p:cNvPr id="10" name="Text 8"/>
          <p:cNvSpPr/>
          <p:nvPr/>
        </p:nvSpPr>
        <p:spPr>
          <a:xfrm>
            <a:off x="6558280" y="2783839"/>
            <a:ext cx="4646371"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Python kodini bir vaqtda faqat bitta oqim bajaradi. Har bir jarayonda esa o‘z GIL i bor.</a:t>
            </a:r>
            <a:endParaRPr lang="en-US" sz="1600" dirty="0"/>
          </a:p>
        </p:txBody>
      </p:sp>
      <p:sp>
        <p:nvSpPr>
          <p:cNvPr id="11" name="Text 9"/>
          <p:cNvSpPr/>
          <p:nvPr/>
        </p:nvSpPr>
        <p:spPr>
          <a:xfrm>
            <a:off x="6558280" y="3505200"/>
            <a:ext cx="4646371"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5FAE"/>
                </a:solidFill>
                <a:latin typeface="IBM Plex Sans" pitchFamily="34" charset="0"/>
                <a:ea typeface="IBM Plex Sans" pitchFamily="34" charset="-122"/>
                <a:cs typeface="IBM Plex Sans" pitchFamily="34" charset="-120"/>
              </a:rPr>
              <a:t>Yechim: ProcessPoolExecutor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ARXITEKTURA</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Ishlab chiqaruvchi — iste’molchi konveyeri</a:t>
            </a:r>
            <a:endParaRPr lang="en-US" sz="3600" dirty="0"/>
          </a:p>
        </p:txBody>
      </p:sp>
      <p:sp>
        <p:nvSpPr>
          <p:cNvPr id="4" name="Shape 2"/>
          <p:cNvSpPr/>
          <p:nvPr/>
        </p:nvSpPr>
        <p:spPr>
          <a:xfrm>
            <a:off x="819150" y="2490471"/>
            <a:ext cx="1384300" cy="1094740"/>
          </a:xfrm>
          <a:prstGeom prst="roundRect">
            <a:avLst>
              <a:gd name="adj" fmla="val 8701"/>
            </a:avLst>
          </a:prstGeom>
          <a:solidFill>
            <a:srgbClr val="FFFFFF"/>
          </a:solidFill>
          <a:ln w="12700">
            <a:solidFill>
              <a:srgbClr val="14213D"/>
            </a:solidFill>
            <a:prstDash val="solid"/>
          </a:ln>
        </p:spPr>
      </p:sp>
      <p:pic>
        <p:nvPicPr>
          <p:cNvPr id="5" name="Image 0" descr="Link"/>
          <p:cNvPicPr>
            <a:picLocks noChangeAspect="1"/>
          </p:cNvPicPr>
          <p:nvPr/>
        </p:nvPicPr>
        <p:blipFill>
          <a:blip r:embed="rId3"/>
          <a:srcRect/>
          <a:stretch/>
        </p:blipFill>
        <p:spPr>
          <a:xfrm>
            <a:off x="1333500" y="2697482"/>
            <a:ext cx="355600" cy="355600"/>
          </a:xfrm>
          <a:prstGeom prst="rect">
            <a:avLst/>
          </a:prstGeom>
        </p:spPr>
      </p:pic>
      <p:sp>
        <p:nvSpPr>
          <p:cNvPr id="6" name="Text 3"/>
          <p:cNvSpPr/>
          <p:nvPr/>
        </p:nvSpPr>
        <p:spPr>
          <a:xfrm>
            <a:off x="914471" y="3129282"/>
            <a:ext cx="1193578"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URL ro‘yxati</a:t>
            </a:r>
            <a:endParaRPr lang="en-US" sz="1400" dirty="0"/>
          </a:p>
        </p:txBody>
      </p:sp>
      <p:pic>
        <p:nvPicPr>
          <p:cNvPr id="7" name="Image 1" descr="connector"/>
          <p:cNvPicPr>
            <a:picLocks noChangeAspect="1"/>
          </p:cNvPicPr>
          <p:nvPr/>
        </p:nvPicPr>
        <p:blipFill>
          <a:blip r:embed="rId4"/>
          <a:srcRect/>
          <a:stretch/>
        </p:blipFill>
        <p:spPr>
          <a:xfrm>
            <a:off x="2282825" y="2987039"/>
            <a:ext cx="431800" cy="101600"/>
          </a:xfrm>
          <a:prstGeom prst="rect">
            <a:avLst/>
          </a:prstGeom>
        </p:spPr>
      </p:pic>
      <p:sp>
        <p:nvSpPr>
          <p:cNvPr id="8" name="Text 4"/>
          <p:cNvSpPr/>
          <p:nvPr/>
        </p:nvSpPr>
        <p:spPr>
          <a:xfrm>
            <a:off x="2759075" y="1935482"/>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9501B"/>
                </a:solidFill>
                <a:latin typeface="IBM Plex Sans" pitchFamily="34" charset="0"/>
                <a:ea typeface="IBM Plex Sans" pitchFamily="34" charset="-122"/>
                <a:cs typeface="IBM Plex Sans" pitchFamily="34" charset="-120"/>
              </a:rPr>
              <a:t>ThreadPool · I/O</a:t>
            </a:r>
            <a:endParaRPr lang="en-US" sz="1200" dirty="0"/>
          </a:p>
        </p:txBody>
      </p:sp>
      <p:sp>
        <p:nvSpPr>
          <p:cNvPr id="9" name="Text 5"/>
          <p:cNvSpPr/>
          <p:nvPr/>
        </p:nvSpPr>
        <p:spPr>
          <a:xfrm>
            <a:off x="2794000" y="2231389"/>
            <a:ext cx="1892300" cy="408940"/>
          </a:xfrm>
          <a:prstGeom prst="roundRect">
            <a:avLst>
              <a:gd name="adj" fmla="val 17081"/>
            </a:avLst>
          </a:prstGeom>
          <a:solidFill>
            <a:srgbClr val="FBE3D6"/>
          </a:solidFill>
          <a:ln w="12700">
            <a:solidFill>
              <a:srgbClr val="E86A2C"/>
            </a:solidFill>
            <a:prstDash val="solid"/>
          </a:ln>
        </p:spPr>
        <p:txBody>
          <a:bodyPr wrap="square" lIns="33567" tIns="59552" rIns="33567" bIns="34152" rtlCol="0" anchor="t">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Oqim 1 → sahifa</a:t>
            </a:r>
            <a:endParaRPr lang="en-US" sz="1400" dirty="0"/>
          </a:p>
        </p:txBody>
      </p:sp>
      <p:sp>
        <p:nvSpPr>
          <p:cNvPr id="10" name="Text 6"/>
          <p:cNvSpPr/>
          <p:nvPr/>
        </p:nvSpPr>
        <p:spPr>
          <a:xfrm>
            <a:off x="2794000" y="2729232"/>
            <a:ext cx="1892300" cy="408940"/>
          </a:xfrm>
          <a:prstGeom prst="roundRect">
            <a:avLst>
              <a:gd name="adj" fmla="val 17081"/>
            </a:avLst>
          </a:prstGeom>
          <a:solidFill>
            <a:srgbClr val="FBE3D6"/>
          </a:solidFill>
          <a:ln w="12700">
            <a:solidFill>
              <a:srgbClr val="E86A2C"/>
            </a:solidFill>
            <a:prstDash val="solid"/>
          </a:ln>
        </p:spPr>
        <p:txBody>
          <a:bodyPr wrap="square" lIns="33567" tIns="59552" rIns="33567" bIns="34152" rtlCol="0" anchor="t">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Oqim 2 → sahifa</a:t>
            </a:r>
            <a:endParaRPr lang="en-US" sz="1400" dirty="0"/>
          </a:p>
        </p:txBody>
      </p:sp>
      <p:sp>
        <p:nvSpPr>
          <p:cNvPr id="11" name="Text 7"/>
          <p:cNvSpPr/>
          <p:nvPr/>
        </p:nvSpPr>
        <p:spPr>
          <a:xfrm>
            <a:off x="2794000" y="3227071"/>
            <a:ext cx="1892300" cy="408940"/>
          </a:xfrm>
          <a:prstGeom prst="roundRect">
            <a:avLst>
              <a:gd name="adj" fmla="val 17081"/>
            </a:avLst>
          </a:prstGeom>
          <a:solidFill>
            <a:srgbClr val="FBE3D6"/>
          </a:solidFill>
          <a:ln w="12700">
            <a:solidFill>
              <a:srgbClr val="E86A2C"/>
            </a:solidFill>
            <a:prstDash val="solid"/>
          </a:ln>
        </p:spPr>
        <p:txBody>
          <a:bodyPr wrap="square" lIns="33567" tIns="59552" rIns="33567" bIns="34152" rtlCol="0" anchor="t">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Oqim … → sahifa</a:t>
            </a:r>
            <a:endParaRPr lang="en-US" sz="1400" dirty="0"/>
          </a:p>
        </p:txBody>
      </p:sp>
      <p:sp>
        <p:nvSpPr>
          <p:cNvPr id="12" name="Text 8"/>
          <p:cNvSpPr/>
          <p:nvPr/>
        </p:nvSpPr>
        <p:spPr>
          <a:xfrm>
            <a:off x="2794000" y="3724911"/>
            <a:ext cx="1892300" cy="408940"/>
          </a:xfrm>
          <a:prstGeom prst="roundRect">
            <a:avLst>
              <a:gd name="adj" fmla="val 17081"/>
            </a:avLst>
          </a:prstGeom>
          <a:solidFill>
            <a:srgbClr val="FBE3D6"/>
          </a:solidFill>
          <a:ln w="12700">
            <a:solidFill>
              <a:srgbClr val="E86A2C"/>
            </a:solidFill>
            <a:prstDash val="solid"/>
          </a:ln>
        </p:spPr>
        <p:txBody>
          <a:bodyPr wrap="square" lIns="33567" tIns="59552" rIns="33567" bIns="34152" rtlCol="0" anchor="t">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Oqim k → sahifa</a:t>
            </a:r>
            <a:endParaRPr lang="en-US" sz="1400" dirty="0"/>
          </a:p>
        </p:txBody>
      </p:sp>
      <p:pic>
        <p:nvPicPr>
          <p:cNvPr id="13" name="Image 2" descr="connector"/>
          <p:cNvPicPr>
            <a:picLocks noChangeAspect="1"/>
          </p:cNvPicPr>
          <p:nvPr/>
        </p:nvPicPr>
        <p:blipFill>
          <a:blip r:embed="rId4"/>
          <a:srcRect/>
          <a:stretch/>
        </p:blipFill>
        <p:spPr>
          <a:xfrm>
            <a:off x="4765675" y="2987039"/>
            <a:ext cx="431800" cy="101600"/>
          </a:xfrm>
          <a:prstGeom prst="rect">
            <a:avLst/>
          </a:prstGeom>
        </p:spPr>
      </p:pic>
      <p:sp>
        <p:nvSpPr>
          <p:cNvPr id="14" name="Shape 9"/>
          <p:cNvSpPr/>
          <p:nvPr/>
        </p:nvSpPr>
        <p:spPr>
          <a:xfrm>
            <a:off x="5270500" y="2349500"/>
            <a:ext cx="1524000" cy="1376680"/>
          </a:xfrm>
          <a:prstGeom prst="roundRect">
            <a:avLst>
              <a:gd name="adj" fmla="val 7380"/>
            </a:avLst>
          </a:prstGeom>
          <a:solidFill>
            <a:srgbClr val="14213D"/>
          </a:solidFill>
          <a:ln/>
        </p:spPr>
      </p:sp>
      <p:pic>
        <p:nvPicPr>
          <p:cNvPr id="15" name="Image 3" descr="Database"/>
          <p:cNvPicPr>
            <a:picLocks noChangeAspect="1"/>
          </p:cNvPicPr>
          <p:nvPr/>
        </p:nvPicPr>
        <p:blipFill>
          <a:blip r:embed="rId5"/>
          <a:srcRect/>
          <a:stretch/>
        </p:blipFill>
        <p:spPr>
          <a:xfrm>
            <a:off x="5854700" y="2552700"/>
            <a:ext cx="355600" cy="355600"/>
          </a:xfrm>
          <a:prstGeom prst="rect">
            <a:avLst/>
          </a:prstGeom>
        </p:spPr>
      </p:pic>
      <p:sp>
        <p:nvSpPr>
          <p:cNvPr id="16" name="Text 10"/>
          <p:cNvSpPr/>
          <p:nvPr/>
        </p:nvSpPr>
        <p:spPr>
          <a:xfrm>
            <a:off x="5377283" y="2984500"/>
            <a:ext cx="1310354"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queue.Queue</a:t>
            </a:r>
            <a:endParaRPr lang="en-US" sz="1400" dirty="0"/>
          </a:p>
        </p:txBody>
      </p:sp>
      <p:sp>
        <p:nvSpPr>
          <p:cNvPr id="17" name="Text 11"/>
          <p:cNvSpPr/>
          <p:nvPr/>
        </p:nvSpPr>
        <p:spPr>
          <a:xfrm>
            <a:off x="5490916" y="3309621"/>
            <a:ext cx="1083088"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9D3E3"/>
                </a:solidFill>
                <a:latin typeface="IBM Plex Sans" pitchFamily="34" charset="0"/>
                <a:ea typeface="IBM Plex Sans" pitchFamily="34" charset="-122"/>
                <a:cs typeface="IBM Plex Sans" pitchFamily="34" charset="-120"/>
              </a:rPr>
              <a:t>maxsize = 64</a:t>
            </a:r>
            <a:endParaRPr lang="en-US" sz="1200" dirty="0"/>
          </a:p>
        </p:txBody>
      </p:sp>
      <p:pic>
        <p:nvPicPr>
          <p:cNvPr id="18" name="Image 4" descr="connector"/>
          <p:cNvPicPr>
            <a:picLocks noChangeAspect="1"/>
          </p:cNvPicPr>
          <p:nvPr/>
        </p:nvPicPr>
        <p:blipFill>
          <a:blip r:embed="rId4"/>
          <a:srcRect/>
          <a:stretch/>
        </p:blipFill>
        <p:spPr>
          <a:xfrm>
            <a:off x="6867525" y="2987039"/>
            <a:ext cx="431800" cy="101600"/>
          </a:xfrm>
          <a:prstGeom prst="rect">
            <a:avLst/>
          </a:prstGeom>
        </p:spPr>
      </p:pic>
      <p:sp>
        <p:nvSpPr>
          <p:cNvPr id="19" name="Text 12"/>
          <p:cNvSpPr/>
          <p:nvPr/>
        </p:nvSpPr>
        <p:spPr>
          <a:xfrm>
            <a:off x="7343775" y="2184400"/>
            <a:ext cx="19621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5FAE"/>
                </a:solidFill>
                <a:latin typeface="IBM Plex Sans" pitchFamily="34" charset="0"/>
                <a:ea typeface="IBM Plex Sans" pitchFamily="34" charset="-122"/>
                <a:cs typeface="IBM Plex Sans" pitchFamily="34" charset="-120"/>
              </a:rPr>
              <a:t>ProcessPool · CPU</a:t>
            </a:r>
            <a:endParaRPr lang="en-US" sz="1200" dirty="0"/>
          </a:p>
        </p:txBody>
      </p:sp>
      <p:sp>
        <p:nvSpPr>
          <p:cNvPr id="20" name="Text 13"/>
          <p:cNvSpPr/>
          <p:nvPr/>
        </p:nvSpPr>
        <p:spPr>
          <a:xfrm>
            <a:off x="7378700" y="2480311"/>
            <a:ext cx="1892300" cy="408940"/>
          </a:xfrm>
          <a:prstGeom prst="roundRect">
            <a:avLst>
              <a:gd name="adj" fmla="val 17081"/>
            </a:avLst>
          </a:prstGeom>
          <a:solidFill>
            <a:srgbClr val="DCE8F7"/>
          </a:solidFill>
          <a:ln w="12700">
            <a:solidFill>
              <a:srgbClr val="1F5FAE"/>
            </a:solidFill>
            <a:prstDash val="solid"/>
          </a:ln>
        </p:spPr>
        <p:txBody>
          <a:bodyPr wrap="square" lIns="33567" tIns="59552" rIns="33567" bIns="34152" rtlCol="0" anchor="t">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Jarayon 1</a:t>
            </a:r>
            <a:endParaRPr lang="en-US" sz="1400" dirty="0"/>
          </a:p>
        </p:txBody>
      </p:sp>
      <p:sp>
        <p:nvSpPr>
          <p:cNvPr id="21" name="Text 14"/>
          <p:cNvSpPr/>
          <p:nvPr/>
        </p:nvSpPr>
        <p:spPr>
          <a:xfrm>
            <a:off x="7378700" y="2978150"/>
            <a:ext cx="1892300" cy="408940"/>
          </a:xfrm>
          <a:prstGeom prst="roundRect">
            <a:avLst>
              <a:gd name="adj" fmla="val 17081"/>
            </a:avLst>
          </a:prstGeom>
          <a:solidFill>
            <a:srgbClr val="DCE8F7"/>
          </a:solidFill>
          <a:ln w="12700">
            <a:solidFill>
              <a:srgbClr val="1F5FAE"/>
            </a:solidFill>
            <a:prstDash val="solid"/>
          </a:ln>
        </p:spPr>
        <p:txBody>
          <a:bodyPr wrap="square" lIns="33567" tIns="59552" rIns="33567" bIns="34152" rtlCol="0" anchor="t">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Jarayon 2</a:t>
            </a:r>
            <a:endParaRPr lang="en-US" sz="1400" dirty="0"/>
          </a:p>
        </p:txBody>
      </p:sp>
      <p:sp>
        <p:nvSpPr>
          <p:cNvPr id="22" name="Text 15"/>
          <p:cNvSpPr/>
          <p:nvPr/>
        </p:nvSpPr>
        <p:spPr>
          <a:xfrm>
            <a:off x="7378700" y="3475989"/>
            <a:ext cx="1892300" cy="408940"/>
          </a:xfrm>
          <a:prstGeom prst="roundRect">
            <a:avLst>
              <a:gd name="adj" fmla="val 17081"/>
            </a:avLst>
          </a:prstGeom>
          <a:solidFill>
            <a:srgbClr val="DCE8F7"/>
          </a:solidFill>
          <a:ln w="12700">
            <a:solidFill>
              <a:srgbClr val="1F5FAE"/>
            </a:solidFill>
            <a:prstDash val="solid"/>
          </a:ln>
        </p:spPr>
        <p:txBody>
          <a:bodyPr wrap="square" lIns="33567" tIns="59552" rIns="33567" bIns="34152" rtlCol="0" anchor="t">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Jarayon p</a:t>
            </a:r>
            <a:endParaRPr lang="en-US" sz="1400" dirty="0"/>
          </a:p>
        </p:txBody>
      </p:sp>
      <p:pic>
        <p:nvPicPr>
          <p:cNvPr id="23" name="Image 5" descr="connector"/>
          <p:cNvPicPr>
            <a:picLocks noChangeAspect="1"/>
          </p:cNvPicPr>
          <p:nvPr/>
        </p:nvPicPr>
        <p:blipFill>
          <a:blip r:embed="rId4"/>
          <a:srcRect/>
          <a:stretch/>
        </p:blipFill>
        <p:spPr>
          <a:xfrm>
            <a:off x="9350375" y="2987039"/>
            <a:ext cx="431800" cy="101600"/>
          </a:xfrm>
          <a:prstGeom prst="rect">
            <a:avLst/>
          </a:prstGeom>
        </p:spPr>
      </p:pic>
      <p:sp>
        <p:nvSpPr>
          <p:cNvPr id="24" name="Shape 16"/>
          <p:cNvSpPr/>
          <p:nvPr/>
        </p:nvSpPr>
        <p:spPr>
          <a:xfrm>
            <a:off x="9861550" y="2239011"/>
            <a:ext cx="1511300" cy="1597660"/>
          </a:xfrm>
          <a:prstGeom prst="roundRect">
            <a:avLst>
              <a:gd name="adj" fmla="val 6303"/>
            </a:avLst>
          </a:prstGeom>
          <a:solidFill>
            <a:srgbClr val="FFFFFF"/>
          </a:solidFill>
          <a:ln w="12700">
            <a:solidFill>
              <a:srgbClr val="14213D"/>
            </a:solidFill>
            <a:prstDash val="solid"/>
          </a:ln>
        </p:spPr>
      </p:sp>
      <p:pic>
        <p:nvPicPr>
          <p:cNvPr id="25" name="Image 6" descr="Chart"/>
          <p:cNvPicPr>
            <a:picLocks noChangeAspect="1"/>
          </p:cNvPicPr>
          <p:nvPr/>
        </p:nvPicPr>
        <p:blipFill>
          <a:blip r:embed="rId6"/>
          <a:srcRect/>
          <a:stretch/>
        </p:blipFill>
        <p:spPr>
          <a:xfrm>
            <a:off x="10439400" y="2446021"/>
            <a:ext cx="355600" cy="355600"/>
          </a:xfrm>
          <a:prstGeom prst="rect">
            <a:avLst/>
          </a:prstGeom>
        </p:spPr>
      </p:pic>
      <p:sp>
        <p:nvSpPr>
          <p:cNvPr id="26" name="Text 17"/>
          <p:cNvSpPr/>
          <p:nvPr/>
        </p:nvSpPr>
        <p:spPr>
          <a:xfrm>
            <a:off x="10173724" y="2877821"/>
            <a:ext cx="886873"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Analitika</a:t>
            </a:r>
            <a:endParaRPr lang="en-US" sz="1400" dirty="0"/>
          </a:p>
        </p:txBody>
      </p:sp>
      <p:sp>
        <p:nvSpPr>
          <p:cNvPr id="27" name="Text 18"/>
          <p:cNvSpPr/>
          <p:nvPr/>
        </p:nvSpPr>
        <p:spPr>
          <a:xfrm>
            <a:off x="9941560" y="3202939"/>
            <a:ext cx="135128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Counter birlashtirish</a:t>
            </a:r>
            <a:endParaRPr lang="en-US" sz="1200" dirty="0"/>
          </a:p>
        </p:txBody>
      </p:sp>
      <p:sp>
        <p:nvSpPr>
          <p:cNvPr id="28" name="Text 19"/>
          <p:cNvSpPr/>
          <p:nvPr/>
        </p:nvSpPr>
        <p:spPr>
          <a:xfrm>
            <a:off x="812800" y="44450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Yuklash va tahlil bir vaqtda ishlaydi: birinchi sahifa kelishi bilan uning tahlili boshlanadi. Navbat sig‘imi xotirani cheklaydi.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1-BOSQICH · YUKLAB OLISH</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ThreadPoolExecutor bilan parallel yuklash</a:t>
            </a:r>
            <a:endParaRPr lang="en-US" sz="3600" dirty="0"/>
          </a:p>
        </p:txBody>
      </p:sp>
      <p:sp>
        <p:nvSpPr>
          <p:cNvPr id="4" name="Text 2"/>
          <p:cNvSpPr/>
          <p:nvPr/>
        </p:nvSpPr>
        <p:spPr>
          <a:xfrm>
            <a:off x="812800" y="1935482"/>
            <a:ext cx="7340600" cy="3067050"/>
          </a:xfrm>
          <a:prstGeom prst="roundRect">
            <a:avLst>
              <a:gd name="adj" fmla="val 3313"/>
            </a:avLst>
          </a:prstGeom>
          <a:solidFill>
            <a:srgbClr val="14213D"/>
          </a:solidFill>
          <a:ln/>
        </p:spPr>
        <p:txBody>
          <a:bodyPr wrap="none" lIns="224242" tIns="224242" rIns="19264" bIns="198842" rtlCol="0" anchor="t">
            <a:normAutofit/>
          </a:bodyPr>
          <a:lstStyle/>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def fetch(url):</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r = requests.get(url, timeout=10)</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r.raise_for_status()</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return url, r.text</a:t>
            </a:r>
            <a:endParaRPr lang="en-US" sz="1300" dirty="0"/>
          </a:p>
          <a:p>
            <a:pPr marL="0" indent="0" algn="l">
              <a:lnSpc>
                <a:spcPts val="2015"/>
              </a:lnSpc>
              <a:buNone/>
            </a:pP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with ThreadPoolExecutor(max_workers=20) as ex:</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futs = [ex.submit(fetch, u) for u in urls]</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for fut in as_completed(futs):</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q.put(fut.result())  </a:t>
            </a:r>
            <a:r>
              <a:rPr lang="en-US" sz="1300" dirty="0">
                <a:solidFill>
                  <a:srgbClr val="F08A4B"/>
                </a:solidFill>
                <a:latin typeface="JetBrains Mono" pitchFamily="49" charset="0"/>
                <a:ea typeface="JetBrains Mono" pitchFamily="49" charset="-122"/>
                <a:cs typeface="JetBrains Mono" pitchFamily="49" charset="-120"/>
              </a:rPr>
              <a:t># navbatga</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q.put(None)  </a:t>
            </a:r>
            <a:r>
              <a:rPr lang="en-US" sz="1300" dirty="0">
                <a:solidFill>
                  <a:srgbClr val="F08A4B"/>
                </a:solidFill>
                <a:latin typeface="JetBrains Mono" pitchFamily="49" charset="0"/>
                <a:ea typeface="JetBrains Mono" pitchFamily="49" charset="-122"/>
                <a:cs typeface="JetBrains Mono" pitchFamily="49" charset="-120"/>
              </a:rPr>
              <a:t># sentinel: tugadi</a:t>
            </a:r>
            <a:endParaRPr lang="en-US" sz="1300" dirty="0"/>
          </a:p>
        </p:txBody>
      </p:sp>
      <p:sp>
        <p:nvSpPr>
          <p:cNvPr id="5" name="Text 3"/>
          <p:cNvSpPr/>
          <p:nvPr/>
        </p:nvSpPr>
        <p:spPr>
          <a:xfrm>
            <a:off x="8458200" y="1935482"/>
            <a:ext cx="3008630"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as_completed</a:t>
            </a:r>
            <a:r>
              <a:rPr lang="en-US" sz="1400" dirty="0">
                <a:solidFill>
                  <a:srgbClr val="4A5568"/>
                </a:solidFill>
                <a:latin typeface="IBM Plex Sans" pitchFamily="34" charset="0"/>
                <a:ea typeface="IBM Plex Sans" pitchFamily="34" charset="-122"/>
                <a:cs typeface="IBM Plex Sans" pitchFamily="34" charset="-120"/>
              </a:rPr>
              <a:t> — qaysi sahifa birinchi kelsa, o‘sha navbatga tushadi.</a:t>
            </a:r>
            <a:endParaRPr lang="en-US" sz="1400" dirty="0"/>
          </a:p>
        </p:txBody>
      </p:sp>
      <p:sp>
        <p:nvSpPr>
          <p:cNvPr id="6" name="Text 4"/>
          <p:cNvSpPr/>
          <p:nvPr/>
        </p:nvSpPr>
        <p:spPr>
          <a:xfrm>
            <a:off x="8458200" y="2834639"/>
            <a:ext cx="300863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timeout</a:t>
            </a:r>
            <a:r>
              <a:rPr lang="en-US" sz="1400" dirty="0">
                <a:solidFill>
                  <a:srgbClr val="4A5568"/>
                </a:solidFill>
                <a:latin typeface="IBM Plex Sans" pitchFamily="34" charset="0"/>
                <a:ea typeface="IBM Plex Sans" pitchFamily="34" charset="-122"/>
                <a:cs typeface="IBM Plex Sans" pitchFamily="34" charset="-120"/>
              </a:rPr>
              <a:t> — bitta sekin sayt butun dasturni to‘xtatmaydi.</a:t>
            </a:r>
            <a:endParaRPr lang="en-US" sz="1400" dirty="0"/>
          </a:p>
        </p:txBody>
      </p:sp>
      <p:sp>
        <p:nvSpPr>
          <p:cNvPr id="7" name="Text 5"/>
          <p:cNvSpPr/>
          <p:nvPr/>
        </p:nvSpPr>
        <p:spPr>
          <a:xfrm>
            <a:off x="8458200" y="3484882"/>
            <a:ext cx="300863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None</a:t>
            </a:r>
            <a:r>
              <a:rPr lang="en-US" sz="1400" dirty="0">
                <a:solidFill>
                  <a:srgbClr val="4A5568"/>
                </a:solidFill>
                <a:latin typeface="IBM Plex Sans" pitchFamily="34" charset="0"/>
                <a:ea typeface="IBM Plex Sans" pitchFamily="34" charset="-122"/>
                <a:cs typeface="IBM Plex Sans" pitchFamily="34" charset="-120"/>
              </a:rPr>
              <a:t> — iste’molchiga oqim tugaganini bildiradi.</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F5FAE"/>
                </a:solidFill>
                <a:latin typeface="JetBrains Mono" pitchFamily="49" charset="0"/>
                <a:ea typeface="JetBrains Mono" pitchFamily="49" charset="-122"/>
                <a:cs typeface="JetBrains Mono" pitchFamily="49" charset="-120"/>
              </a:rPr>
              <a:t>2-BOSQICH · TAHLIL</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ProcessPoolExecutor bilan map-reduce</a:t>
            </a:r>
            <a:endParaRPr lang="en-US" sz="3600" dirty="0"/>
          </a:p>
        </p:txBody>
      </p:sp>
      <p:sp>
        <p:nvSpPr>
          <p:cNvPr id="4" name="Text 2"/>
          <p:cNvSpPr/>
          <p:nvPr/>
        </p:nvSpPr>
        <p:spPr>
          <a:xfrm>
            <a:off x="812800" y="1935482"/>
            <a:ext cx="7721600" cy="3322955"/>
          </a:xfrm>
          <a:prstGeom prst="roundRect">
            <a:avLst>
              <a:gd name="adj" fmla="val 3058"/>
            </a:avLst>
          </a:prstGeom>
          <a:solidFill>
            <a:srgbClr val="14213D"/>
          </a:solidFill>
          <a:ln/>
        </p:spPr>
        <p:txBody>
          <a:bodyPr wrap="none" lIns="224242" tIns="224242" rIns="7834" bIns="198842" rtlCol="0" anchor="t">
            <a:normAutofit/>
          </a:bodyPr>
          <a:lstStyle/>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def analyze(html):  </a:t>
            </a:r>
            <a:r>
              <a:rPr lang="en-US" sz="1300" dirty="0">
                <a:solidFill>
                  <a:srgbClr val="6FA8EE"/>
                </a:solidFill>
                <a:latin typeface="JetBrains Mono" pitchFamily="49" charset="0"/>
                <a:ea typeface="JetBrains Mono" pitchFamily="49" charset="-122"/>
                <a:cs typeface="JetBrains Mono" pitchFamily="49" charset="-120"/>
              </a:rPr>
              <a:t># map</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text = BeautifulSoup(html, "html.parser").get_text()</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return Counter(re.findall(r"\w+", text.lower()))</a:t>
            </a:r>
            <a:endParaRPr lang="en-US" sz="1300" dirty="0"/>
          </a:p>
          <a:p>
            <a:pPr marL="0" indent="0" algn="l">
              <a:lnSpc>
                <a:spcPts val="2015"/>
              </a:lnSpc>
              <a:buNone/>
            </a:pP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total = Counter()</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with ProcessPoolExecutor(os.cpu_count()) as pp:</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futs = []</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while (item := q.get()) is not None:</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futs.append(pp.submit(analyze, item[1]))</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for f in as_completed(futs):</a:t>
            </a:r>
            <a:endParaRPr lang="en-US" sz="1300" dirty="0"/>
          </a:p>
          <a:p>
            <a:pPr marL="0" indent="0" algn="l">
              <a:lnSpc>
                <a:spcPts val="2015"/>
              </a:lnSpc>
              <a:buNone/>
            </a:pPr>
            <a:r>
              <a:rPr lang="en-US" sz="1300" dirty="0">
                <a:solidFill>
                  <a:srgbClr val="E6EAF2"/>
                </a:solidFill>
                <a:latin typeface="JetBrains Mono" pitchFamily="49" charset="0"/>
                <a:ea typeface="JetBrains Mono" pitchFamily="49" charset="-122"/>
                <a:cs typeface="JetBrains Mono" pitchFamily="49" charset="-120"/>
              </a:rPr>
              <a:t>        total.update(f.result())  </a:t>
            </a:r>
            <a:r>
              <a:rPr lang="en-US" sz="1300" dirty="0">
                <a:solidFill>
                  <a:srgbClr val="6FA8EE"/>
                </a:solidFill>
                <a:latin typeface="JetBrains Mono" pitchFamily="49" charset="0"/>
                <a:ea typeface="JetBrains Mono" pitchFamily="49" charset="-122"/>
                <a:cs typeface="JetBrains Mono" pitchFamily="49" charset="-120"/>
              </a:rPr>
              <a:t># reduce</a:t>
            </a:r>
            <a:endParaRPr lang="en-US" sz="1300" dirty="0"/>
          </a:p>
        </p:txBody>
      </p:sp>
      <p:sp>
        <p:nvSpPr>
          <p:cNvPr id="5" name="Text 3"/>
          <p:cNvSpPr/>
          <p:nvPr/>
        </p:nvSpPr>
        <p:spPr>
          <a:xfrm>
            <a:off x="8839200" y="1935482"/>
            <a:ext cx="261620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Map:</a:t>
            </a:r>
            <a:r>
              <a:rPr lang="en-US" sz="1400" dirty="0">
                <a:solidFill>
                  <a:srgbClr val="4A5568"/>
                </a:solidFill>
                <a:latin typeface="IBM Plex Sans" pitchFamily="34" charset="0"/>
                <a:ea typeface="IBM Plex Sans" pitchFamily="34" charset="-122"/>
                <a:cs typeface="IBM Plex Sans" pitchFamily="34" charset="-120"/>
              </a:rPr>
              <a:t> har bir jarayon o‘z sahifasini sanaydi.</a:t>
            </a:r>
            <a:endParaRPr lang="en-US" sz="1400" dirty="0"/>
          </a:p>
        </p:txBody>
      </p:sp>
      <p:sp>
        <p:nvSpPr>
          <p:cNvPr id="6" name="Text 4"/>
          <p:cNvSpPr/>
          <p:nvPr/>
        </p:nvSpPr>
        <p:spPr>
          <a:xfrm>
            <a:off x="8839200" y="2585721"/>
            <a:ext cx="261620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Reduce:</a:t>
            </a:r>
            <a:r>
              <a:rPr lang="en-US" sz="1400" dirty="0">
                <a:solidFill>
                  <a:srgbClr val="4A5568"/>
                </a:solidFill>
                <a:latin typeface="IBM Plex Sans" pitchFamily="34" charset="0"/>
                <a:ea typeface="IBM Plex Sans" pitchFamily="34" charset="-122"/>
                <a:cs typeface="IBM Plex Sans" pitchFamily="34" charset="-120"/>
              </a:rPr>
              <a:t> natijalar asosiy jarayonda birlashadi.</a:t>
            </a:r>
            <a:endParaRPr lang="en-US" sz="1400" dirty="0"/>
          </a:p>
        </p:txBody>
      </p:sp>
      <p:sp>
        <p:nvSpPr>
          <p:cNvPr id="7" name="Text 5"/>
          <p:cNvSpPr/>
          <p:nvPr/>
        </p:nvSpPr>
        <p:spPr>
          <a:xfrm>
            <a:off x="8839200" y="3235961"/>
            <a:ext cx="2616200"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Windows’da kod </a:t>
            </a:r>
            <a:r>
              <a:rPr lang="en-US" sz="1400" b="1" dirty="0">
                <a:solidFill>
                  <a:srgbClr val="14213D"/>
                </a:solidFill>
                <a:latin typeface="IBM Plex Sans" pitchFamily="34" charset="0"/>
                <a:ea typeface="IBM Plex Sans" pitchFamily="34" charset="-122"/>
                <a:cs typeface="IBM Plex Sans" pitchFamily="34" charset="-120"/>
              </a:rPr>
              <a:t>if __name__ == "__main__":</a:t>
            </a:r>
            <a:r>
              <a:rPr lang="en-US" sz="1400" dirty="0">
                <a:solidFill>
                  <a:srgbClr val="4A5568"/>
                </a:solidFill>
                <a:latin typeface="IBM Plex Sans" pitchFamily="34" charset="0"/>
                <a:ea typeface="IBM Plex Sans" pitchFamily="34" charset="-122"/>
                <a:cs typeface="IBM Plex Sans" pitchFamily="34" charset="-120"/>
              </a:rPr>
              <a:t> ichida bo‘lishi shart.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ISHONCHLILIK</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Oqim va jarayon xavfsizligi, odob qoidalari</a:t>
            </a:r>
            <a:endParaRPr lang="en-US" sz="3600" dirty="0"/>
          </a:p>
        </p:txBody>
      </p:sp>
      <p:sp>
        <p:nvSpPr>
          <p:cNvPr id="4" name="Shape 2"/>
          <p:cNvSpPr/>
          <p:nvPr/>
        </p:nvSpPr>
        <p:spPr>
          <a:xfrm>
            <a:off x="815975" y="1938654"/>
            <a:ext cx="3380264" cy="2032635"/>
          </a:xfrm>
          <a:prstGeom prst="roundRect">
            <a:avLst>
              <a:gd name="adj" fmla="val 4842"/>
            </a:avLst>
          </a:prstGeom>
          <a:solidFill>
            <a:srgbClr val="FFFFFF"/>
          </a:solidFill>
          <a:ln w="6350">
            <a:solidFill>
              <a:srgbClr val="E1DED4"/>
            </a:solidFill>
            <a:prstDash val="solid"/>
          </a:ln>
        </p:spPr>
      </p:sp>
      <p:pic>
        <p:nvPicPr>
          <p:cNvPr id="5" name="Image 0" descr="Lock"/>
          <p:cNvPicPr>
            <a:picLocks noChangeAspect="1"/>
          </p:cNvPicPr>
          <p:nvPr/>
        </p:nvPicPr>
        <p:blipFill>
          <a:blip r:embed="rId3"/>
          <a:srcRect/>
          <a:stretch/>
        </p:blipFill>
        <p:spPr>
          <a:xfrm>
            <a:off x="1071880" y="2194564"/>
            <a:ext cx="355600" cy="355600"/>
          </a:xfrm>
          <a:prstGeom prst="rect">
            <a:avLst/>
          </a:prstGeom>
        </p:spPr>
      </p:pic>
      <p:sp>
        <p:nvSpPr>
          <p:cNvPr id="6" name="Text 3"/>
          <p:cNvSpPr/>
          <p:nvPr/>
        </p:nvSpPr>
        <p:spPr>
          <a:xfrm>
            <a:off x="1071880" y="2651764"/>
            <a:ext cx="29545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Oqimlar</a:t>
            </a:r>
            <a:endParaRPr lang="en-US" sz="1600" dirty="0"/>
          </a:p>
        </p:txBody>
      </p:sp>
      <p:sp>
        <p:nvSpPr>
          <p:cNvPr id="7" name="Text 4"/>
          <p:cNvSpPr/>
          <p:nvPr/>
        </p:nvSpPr>
        <p:spPr>
          <a:xfrm>
            <a:off x="1157224" y="2997200"/>
            <a:ext cx="2861543" cy="743585"/>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queue.Queue — ichida qulf bor</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Umumiy hisoblagich — Lock bilan</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Sentinel bilan to‘xtatish</a:t>
            </a:r>
            <a:endParaRPr lang="en-US" sz="1300" dirty="0"/>
          </a:p>
        </p:txBody>
      </p:sp>
      <p:sp>
        <p:nvSpPr>
          <p:cNvPr id="8" name="Shape 5"/>
          <p:cNvSpPr/>
          <p:nvPr/>
        </p:nvSpPr>
        <p:spPr>
          <a:xfrm>
            <a:off x="4405789" y="1938654"/>
            <a:ext cx="3380343" cy="2032635"/>
          </a:xfrm>
          <a:prstGeom prst="roundRect">
            <a:avLst>
              <a:gd name="adj" fmla="val 4842"/>
            </a:avLst>
          </a:prstGeom>
          <a:solidFill>
            <a:srgbClr val="FFFFFF"/>
          </a:solidFill>
          <a:ln w="6350">
            <a:solidFill>
              <a:srgbClr val="E1DED4"/>
            </a:solidFill>
            <a:prstDash val="solid"/>
          </a:ln>
        </p:spPr>
      </p:sp>
      <p:pic>
        <p:nvPicPr>
          <p:cNvPr id="9" name="Image 1" descr="Settings"/>
          <p:cNvPicPr>
            <a:picLocks noChangeAspect="1"/>
          </p:cNvPicPr>
          <p:nvPr/>
        </p:nvPicPr>
        <p:blipFill>
          <a:blip r:embed="rId4"/>
          <a:srcRect/>
          <a:stretch/>
        </p:blipFill>
        <p:spPr>
          <a:xfrm>
            <a:off x="4661694" y="2194564"/>
            <a:ext cx="355600" cy="355600"/>
          </a:xfrm>
          <a:prstGeom prst="rect">
            <a:avLst/>
          </a:prstGeom>
        </p:spPr>
      </p:pic>
      <p:sp>
        <p:nvSpPr>
          <p:cNvPr id="10" name="Text 6"/>
          <p:cNvSpPr/>
          <p:nvPr/>
        </p:nvSpPr>
        <p:spPr>
          <a:xfrm>
            <a:off x="4661694" y="2651764"/>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Jarayonlar</a:t>
            </a:r>
            <a:endParaRPr lang="en-US" sz="1600" dirty="0"/>
          </a:p>
        </p:txBody>
      </p:sp>
      <p:sp>
        <p:nvSpPr>
          <p:cNvPr id="11" name="Text 7"/>
          <p:cNvSpPr/>
          <p:nvPr/>
        </p:nvSpPr>
        <p:spPr>
          <a:xfrm>
            <a:off x="4747038" y="2997200"/>
            <a:ext cx="2861625" cy="743585"/>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Umumiy holat yo‘q</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Natija qaytariladi, yozilmaydi</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Xatolar future.result() da</a:t>
            </a:r>
            <a:endParaRPr lang="en-US" sz="1300" dirty="0"/>
          </a:p>
        </p:txBody>
      </p:sp>
      <p:sp>
        <p:nvSpPr>
          <p:cNvPr id="12" name="Shape 8"/>
          <p:cNvSpPr/>
          <p:nvPr/>
        </p:nvSpPr>
        <p:spPr>
          <a:xfrm>
            <a:off x="7995682" y="1938654"/>
            <a:ext cx="3380343" cy="2032635"/>
          </a:xfrm>
          <a:prstGeom prst="roundRect">
            <a:avLst>
              <a:gd name="adj" fmla="val 4842"/>
            </a:avLst>
          </a:prstGeom>
          <a:solidFill>
            <a:srgbClr val="FFFFFF"/>
          </a:solidFill>
          <a:ln w="6350">
            <a:solidFill>
              <a:srgbClr val="E1DED4"/>
            </a:solidFill>
            <a:prstDash val="solid"/>
          </a:ln>
        </p:spPr>
      </p:sp>
      <p:pic>
        <p:nvPicPr>
          <p:cNvPr id="13" name="Image 2" descr="Globe"/>
          <p:cNvPicPr>
            <a:picLocks noChangeAspect="1"/>
          </p:cNvPicPr>
          <p:nvPr/>
        </p:nvPicPr>
        <p:blipFill>
          <a:blip r:embed="rId5"/>
          <a:srcRect/>
          <a:stretch/>
        </p:blipFill>
        <p:spPr>
          <a:xfrm>
            <a:off x="8251587" y="2194564"/>
            <a:ext cx="355600" cy="355600"/>
          </a:xfrm>
          <a:prstGeom prst="rect">
            <a:avLst/>
          </a:prstGeom>
        </p:spPr>
      </p:pic>
      <p:sp>
        <p:nvSpPr>
          <p:cNvPr id="14" name="Text 9"/>
          <p:cNvSpPr/>
          <p:nvPr/>
        </p:nvSpPr>
        <p:spPr>
          <a:xfrm>
            <a:off x="8251587" y="2651764"/>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Saytlarga hurmat</a:t>
            </a:r>
            <a:endParaRPr lang="en-US" sz="1600" dirty="0"/>
          </a:p>
        </p:txBody>
      </p:sp>
      <p:sp>
        <p:nvSpPr>
          <p:cNvPr id="15" name="Text 10"/>
          <p:cNvSpPr/>
          <p:nvPr/>
        </p:nvSpPr>
        <p:spPr>
          <a:xfrm>
            <a:off x="8336931" y="2997200"/>
            <a:ext cx="2861625" cy="743585"/>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robots.txt ga rioya</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Bir domenga cheklangan so‘rov</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timeout va qayta urinish</a:t>
            </a:r>
            <a:endParaRPr lang="en-US" sz="1300" dirty="0"/>
          </a:p>
        </p:txBody>
      </p:sp>
      <p:sp>
        <p:nvSpPr>
          <p:cNvPr id="16" name="Text 11"/>
          <p:cNvSpPr/>
          <p:nvPr/>
        </p:nvSpPr>
        <p:spPr>
          <a:xfrm>
            <a:off x="812800" y="4279267"/>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Takrorlanadigan o‘lchov uchun: lokal sinov serveri (sun’iy kechikish bilan) — natija internet holatiga bog‘liq bo‘lmaydi.</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TAJRIBA REJASI</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To‘rtta versiya bir xil URL ro‘yxatida o‘lchanadi</a:t>
            </a:r>
            <a:endParaRPr lang="en-US" sz="3600" dirty="0"/>
          </a:p>
        </p:txBody>
      </p:sp>
      <p:sp>
        <p:nvSpPr>
          <p:cNvPr id="4" name="Shape 2"/>
          <p:cNvSpPr/>
          <p:nvPr/>
        </p:nvSpPr>
        <p:spPr>
          <a:xfrm>
            <a:off x="812800" y="1935479"/>
            <a:ext cx="6705600" cy="1932940"/>
          </a:xfrm>
          <a:prstGeom prst="rect">
            <a:avLst/>
          </a:prstGeom>
          <a:solidFill>
            <a:srgbClr val="FFFFFF"/>
          </a:solidFill>
          <a:ln/>
        </p:spPr>
      </p:sp>
      <p:sp>
        <p:nvSpPr>
          <p:cNvPr id="5" name="Shape 3"/>
          <p:cNvSpPr/>
          <p:nvPr/>
        </p:nvSpPr>
        <p:spPr>
          <a:xfrm>
            <a:off x="7515225" y="1935479"/>
            <a:ext cx="0" cy="1932940"/>
          </a:xfrm>
          <a:prstGeom prst="line">
            <a:avLst/>
          </a:prstGeom>
          <a:noFill/>
          <a:ln w="6350">
            <a:solidFill>
              <a:srgbClr val="E1DED4"/>
            </a:solidFill>
            <a:prstDash val="solid"/>
          </a:ln>
        </p:spPr>
      </p:sp>
      <p:sp>
        <p:nvSpPr>
          <p:cNvPr id="6" name="Shape 4"/>
          <p:cNvSpPr/>
          <p:nvPr/>
        </p:nvSpPr>
        <p:spPr>
          <a:xfrm>
            <a:off x="812800" y="3865244"/>
            <a:ext cx="6705600" cy="0"/>
          </a:xfrm>
          <a:prstGeom prst="line">
            <a:avLst/>
          </a:prstGeom>
          <a:noFill/>
          <a:ln w="6350">
            <a:solidFill>
              <a:srgbClr val="E1DED4"/>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945639"/>
          <a:ext cx="6690361" cy="1917700"/>
        </p:xfrm>
        <a:graphic>
          <a:graphicData uri="http://schemas.openxmlformats.org/drawingml/2006/table">
            <a:tbl>
              <a:tblPr/>
              <a:tblGrid>
                <a:gridCol w="535229">
                  <a:extLst>
                    <a:ext uri="{9D8B030D-6E8A-4147-A177-3AD203B41FA5}">
                      <a16:colId xmlns:a16="http://schemas.microsoft.com/office/drawing/2014/main" val="20000"/>
                    </a:ext>
                  </a:extLst>
                </a:gridCol>
                <a:gridCol w="3077566">
                  <a:extLst>
                    <a:ext uri="{9D8B030D-6E8A-4147-A177-3AD203B41FA5}">
                      <a16:colId xmlns:a16="http://schemas.microsoft.com/office/drawing/2014/main" val="20001"/>
                    </a:ext>
                  </a:extLst>
                </a:gridCol>
                <a:gridCol w="3077566">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Versiya</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O‘zgaruvchi parametr</a:t>
                      </a:r>
                      <a:endParaRPr lang="en-US" sz="1400" dirty="0">
                        <a:latin typeface="IBM Plex Sans" charset="0"/>
                        <a:ea typeface="IBM Plex Sans" charset="0"/>
                        <a:cs typeface="IBM Plex Sans" charset="0"/>
                      </a:endParaRPr>
                    </a:p>
                  </a:txBody>
                  <a:tcPr marL="62230" marR="62230" marT="62230" marB="62230">
                    <a:lnL w="12700" cap="flat" cmpd="sng" algn="ctr">
                      <a:solidFill>
                        <a:srgbClr val="BAB8B0"/>
                      </a:solidFill>
                      <a:prstDash val="solid"/>
                      <a:round/>
                      <a:headEnd type="none" w="med" len="med"/>
                      <a:tailEnd type="none" w="med" len="med"/>
                    </a:lnL>
                    <a:lnR w="12700" cap="flat" cmpd="sng" algn="ctr">
                      <a:solidFill>
                        <a:srgbClr val="BAB8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8B0"/>
                      </a:solidFill>
                      <a:prstDash val="solid"/>
                      <a:round/>
                      <a:headEnd type="none" w="med" len="med"/>
                      <a:tailEnd type="none" w="med" len="med"/>
                    </a:lnB>
                    <a:solidFill>
                      <a:srgbClr val="E9E6DC"/>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Ketma-ket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8B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Faqat oqimlar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k = 1, 5, 10, 20, 50</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Faqat jarayonlar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 = 1, 2, 4, yadrolar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Gibrid konveyer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k × p, navbat sig‘imi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7826375" y="1938654"/>
            <a:ext cx="3549650" cy="2319020"/>
          </a:xfrm>
          <a:prstGeom prst="roundRect">
            <a:avLst>
              <a:gd name="adj" fmla="val 4244"/>
            </a:avLst>
          </a:prstGeom>
          <a:solidFill>
            <a:srgbClr val="FFFFFF"/>
          </a:solidFill>
          <a:ln w="6350">
            <a:solidFill>
              <a:srgbClr val="E1DED4"/>
            </a:solidFill>
            <a:prstDash val="solid"/>
          </a:ln>
        </p:spPr>
      </p:sp>
      <p:sp>
        <p:nvSpPr>
          <p:cNvPr id="9" name="Text 6"/>
          <p:cNvSpPr/>
          <p:nvPr/>
        </p:nvSpPr>
        <p:spPr>
          <a:xfrm>
            <a:off x="8082280" y="2194564"/>
            <a:ext cx="312897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Metodika</a:t>
            </a:r>
            <a:endParaRPr lang="en-US" sz="1600" dirty="0"/>
          </a:p>
        </p:txBody>
      </p:sp>
      <p:sp>
        <p:nvSpPr>
          <p:cNvPr id="10" name="Text 7"/>
          <p:cNvSpPr/>
          <p:nvPr/>
        </p:nvSpPr>
        <p:spPr>
          <a:xfrm>
            <a:off x="8167624" y="2565400"/>
            <a:ext cx="3036011" cy="1461770"/>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3 marta takror, o‘rtacha</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Birinchi yurish hisobga olinmaydi</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S = T₁ / Tₙ, E = S / n</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O‘tkazuvchanlik: sahifa/s</a:t>
            </a:r>
            <a:endParaRPr lang="en-US" sz="1300" dirty="0"/>
          </a:p>
          <a:p>
            <a:pPr marL="168656" indent="-168656" algn="l">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Natija ketma-ket versiya bilan solishtiriladi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KUTILAYOTGAN NATIJA · NAZARIY MODEL</a:t>
            </a:r>
            <a:endParaRPr lang="en-US" sz="1200" dirty="0"/>
          </a:p>
        </p:txBody>
      </p:sp>
      <p:sp>
        <p:nvSpPr>
          <p:cNvPr id="3" name="Text 1"/>
          <p:cNvSpPr>
            <a:spLocks noGrp="1"/>
          </p:cNvSpPr>
          <p:nvPr>
            <p:ph type="title"/>
          </p:nvPr>
        </p:nvSpPr>
        <p:spPr>
          <a:xfrm>
            <a:off x="812800" y="1127764"/>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Gibrid konveyer ~19 baravar tezroq bo‘lishi kutiladi</a:t>
            </a:r>
            <a:endParaRPr lang="en-US" sz="3600" dirty="0"/>
          </a:p>
        </p:txBody>
      </p:sp>
      <p:sp>
        <p:nvSpPr>
          <p:cNvPr id="4" name="Text 2"/>
          <p:cNvSpPr/>
          <p:nvPr/>
        </p:nvSpPr>
        <p:spPr>
          <a:xfrm>
            <a:off x="812800" y="2440942"/>
            <a:ext cx="248539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Ketma-ket</a:t>
            </a:r>
            <a:endParaRPr lang="en-US" sz="1400" dirty="0"/>
          </a:p>
        </p:txBody>
      </p:sp>
      <p:sp>
        <p:nvSpPr>
          <p:cNvPr id="5" name="Shape 3"/>
          <p:cNvSpPr/>
          <p:nvPr/>
        </p:nvSpPr>
        <p:spPr>
          <a:xfrm>
            <a:off x="3378200" y="2387600"/>
            <a:ext cx="6350000" cy="355600"/>
          </a:xfrm>
          <a:custGeom>
            <a:avLst/>
            <a:gdLst/>
            <a:ahLst/>
            <a:cxnLst/>
            <a:rect l="l" t="t" r="r" b="b"/>
            <a:pathLst>
              <a:path w="6350000" h="355600">
                <a:moveTo>
                  <a:pt x="0" y="0"/>
                </a:moveTo>
                <a:lnTo>
                  <a:pt x="6299200" y="0"/>
                </a:lnTo>
                <a:arcTo wR="50800" hR="50800" stAng="16200000" swAng="5400000"/>
                <a:lnTo>
                  <a:pt x="6350000" y="304800"/>
                </a:lnTo>
                <a:arcTo wR="50800" hR="50800" stAng="0" swAng="5400000"/>
                <a:lnTo>
                  <a:pt x="0" y="355600"/>
                </a:lnTo>
                <a:lnTo>
                  <a:pt x="0" y="0"/>
                </a:lnTo>
                <a:close/>
              </a:path>
            </a:pathLst>
          </a:custGeom>
          <a:solidFill>
            <a:srgbClr val="9AA3B2"/>
          </a:solidFill>
          <a:ln/>
        </p:spPr>
      </p:sp>
      <p:sp>
        <p:nvSpPr>
          <p:cNvPr id="6" name="Text 4"/>
          <p:cNvSpPr/>
          <p:nvPr/>
        </p:nvSpPr>
        <p:spPr>
          <a:xfrm>
            <a:off x="9880600" y="2440942"/>
            <a:ext cx="54092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105 s</a:t>
            </a:r>
            <a:endParaRPr lang="en-US" sz="1400" dirty="0"/>
          </a:p>
        </p:txBody>
      </p:sp>
      <p:sp>
        <p:nvSpPr>
          <p:cNvPr id="7" name="Text 5"/>
          <p:cNvSpPr/>
          <p:nvPr/>
        </p:nvSpPr>
        <p:spPr>
          <a:xfrm>
            <a:off x="812800" y="2923542"/>
            <a:ext cx="248539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Faqat jarayonlar, p = 8</a:t>
            </a:r>
            <a:endParaRPr lang="en-US" sz="1400" dirty="0"/>
          </a:p>
        </p:txBody>
      </p:sp>
      <p:sp>
        <p:nvSpPr>
          <p:cNvPr id="8" name="Shape 6"/>
          <p:cNvSpPr/>
          <p:nvPr/>
        </p:nvSpPr>
        <p:spPr>
          <a:xfrm>
            <a:off x="3378200" y="2870200"/>
            <a:ext cx="825500" cy="355600"/>
          </a:xfrm>
          <a:custGeom>
            <a:avLst/>
            <a:gdLst/>
            <a:ahLst/>
            <a:cxnLst/>
            <a:rect l="l" t="t" r="r" b="b"/>
            <a:pathLst>
              <a:path w="825500" h="355600">
                <a:moveTo>
                  <a:pt x="0" y="0"/>
                </a:moveTo>
                <a:lnTo>
                  <a:pt x="774700" y="0"/>
                </a:lnTo>
                <a:arcTo wR="50800" hR="50800" stAng="16200000" swAng="5400000"/>
                <a:lnTo>
                  <a:pt x="825500" y="304800"/>
                </a:lnTo>
                <a:arcTo wR="50800" hR="50800" stAng="0" swAng="5400000"/>
                <a:lnTo>
                  <a:pt x="0" y="355600"/>
                </a:lnTo>
                <a:lnTo>
                  <a:pt x="0" y="0"/>
                </a:lnTo>
                <a:close/>
              </a:path>
            </a:pathLst>
          </a:custGeom>
          <a:solidFill>
            <a:srgbClr val="1F5FAE"/>
          </a:solidFill>
          <a:ln/>
        </p:spPr>
      </p:sp>
      <p:sp>
        <p:nvSpPr>
          <p:cNvPr id="9" name="Text 7"/>
          <p:cNvSpPr/>
          <p:nvPr/>
        </p:nvSpPr>
        <p:spPr>
          <a:xfrm>
            <a:off x="4356100" y="2923542"/>
            <a:ext cx="122767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13,7 s · 7,7×</a:t>
            </a:r>
            <a:endParaRPr lang="en-US" sz="1400" dirty="0"/>
          </a:p>
        </p:txBody>
      </p:sp>
      <p:sp>
        <p:nvSpPr>
          <p:cNvPr id="10" name="Text 8"/>
          <p:cNvSpPr/>
          <p:nvPr/>
        </p:nvSpPr>
        <p:spPr>
          <a:xfrm>
            <a:off x="812800" y="3406142"/>
            <a:ext cx="248539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Faqat oqimlar, k = 20</a:t>
            </a:r>
            <a:endParaRPr lang="en-US" sz="1400" dirty="0"/>
          </a:p>
        </p:txBody>
      </p:sp>
      <p:sp>
        <p:nvSpPr>
          <p:cNvPr id="11" name="Shape 9"/>
          <p:cNvSpPr/>
          <p:nvPr/>
        </p:nvSpPr>
        <p:spPr>
          <a:xfrm>
            <a:off x="3378200" y="3352800"/>
            <a:ext cx="603250" cy="355600"/>
          </a:xfrm>
          <a:custGeom>
            <a:avLst/>
            <a:gdLst/>
            <a:ahLst/>
            <a:cxnLst/>
            <a:rect l="l" t="t" r="r" b="b"/>
            <a:pathLst>
              <a:path w="603250" h="355600">
                <a:moveTo>
                  <a:pt x="0" y="0"/>
                </a:moveTo>
                <a:lnTo>
                  <a:pt x="552450" y="0"/>
                </a:lnTo>
                <a:arcTo wR="50800" hR="50800" stAng="16200000" swAng="5400000"/>
                <a:lnTo>
                  <a:pt x="603250" y="304800"/>
                </a:lnTo>
                <a:arcTo wR="50800" hR="50800" stAng="0" swAng="5400000"/>
                <a:lnTo>
                  <a:pt x="0" y="355600"/>
                </a:lnTo>
                <a:lnTo>
                  <a:pt x="0" y="0"/>
                </a:lnTo>
                <a:close/>
              </a:path>
            </a:pathLst>
          </a:custGeom>
          <a:solidFill>
            <a:srgbClr val="E86A2C"/>
          </a:solidFill>
          <a:ln/>
        </p:spPr>
      </p:sp>
      <p:sp>
        <p:nvSpPr>
          <p:cNvPr id="12" name="Text 10"/>
          <p:cNvSpPr/>
          <p:nvPr/>
        </p:nvSpPr>
        <p:spPr>
          <a:xfrm>
            <a:off x="4133850" y="3406142"/>
            <a:ext cx="116395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10 s · 10,5×</a:t>
            </a:r>
            <a:endParaRPr lang="en-US" sz="1400" dirty="0"/>
          </a:p>
        </p:txBody>
      </p:sp>
      <p:sp>
        <p:nvSpPr>
          <p:cNvPr id="13" name="Text 11"/>
          <p:cNvSpPr/>
          <p:nvPr/>
        </p:nvSpPr>
        <p:spPr>
          <a:xfrm>
            <a:off x="812800" y="3888742"/>
            <a:ext cx="248539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Gibrid, 20 + 8</a:t>
            </a:r>
            <a:endParaRPr lang="en-US" sz="1400" dirty="0"/>
          </a:p>
        </p:txBody>
      </p:sp>
      <p:sp>
        <p:nvSpPr>
          <p:cNvPr id="14" name="Shape 12"/>
          <p:cNvSpPr/>
          <p:nvPr/>
        </p:nvSpPr>
        <p:spPr>
          <a:xfrm>
            <a:off x="3378200" y="3835400"/>
            <a:ext cx="336550" cy="355600"/>
          </a:xfrm>
          <a:custGeom>
            <a:avLst/>
            <a:gdLst/>
            <a:ahLst/>
            <a:cxnLst/>
            <a:rect l="l" t="t" r="r" b="b"/>
            <a:pathLst>
              <a:path w="336550" h="355600">
                <a:moveTo>
                  <a:pt x="0" y="0"/>
                </a:moveTo>
                <a:lnTo>
                  <a:pt x="285750" y="0"/>
                </a:lnTo>
                <a:arcTo wR="50800" hR="50800" stAng="16200000" swAng="5400000"/>
                <a:lnTo>
                  <a:pt x="336550" y="304800"/>
                </a:lnTo>
                <a:arcTo wR="50800" hR="50800" stAng="0" swAng="5400000"/>
                <a:lnTo>
                  <a:pt x="0" y="355600"/>
                </a:lnTo>
                <a:lnTo>
                  <a:pt x="0" y="0"/>
                </a:lnTo>
                <a:close/>
              </a:path>
            </a:pathLst>
          </a:custGeom>
          <a:solidFill>
            <a:srgbClr val="14213D"/>
          </a:solidFill>
          <a:ln/>
        </p:spPr>
      </p:sp>
      <p:sp>
        <p:nvSpPr>
          <p:cNvPr id="15" name="Text 13"/>
          <p:cNvSpPr/>
          <p:nvPr/>
        </p:nvSpPr>
        <p:spPr>
          <a:xfrm>
            <a:off x="3867150" y="3888742"/>
            <a:ext cx="137083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 5,6 s · ≈ 19×</a:t>
            </a:r>
            <a:endParaRPr lang="en-US" sz="1400" dirty="0"/>
          </a:p>
        </p:txBody>
      </p:sp>
      <p:sp>
        <p:nvSpPr>
          <p:cNvPr id="16" name="Text 14"/>
          <p:cNvSpPr/>
          <p:nvPr/>
        </p:nvSpPr>
        <p:spPr>
          <a:xfrm>
            <a:off x="812800" y="4445000"/>
            <a:ext cx="10883392"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8"/>
                </a:solidFill>
                <a:latin typeface="IBM Plex Sans" pitchFamily="34" charset="0"/>
                <a:ea typeface="IBM Plex Sans" pitchFamily="34" charset="-122"/>
                <a:cs typeface="IBM Plex Sans" pitchFamily="34" charset="-120"/>
              </a:rPr>
              <a:t>Faraz: n = 100 sahifa, tarmoq 1 s, tahlil 0,05 s/sahifa, 8 yadro. Ketma-ket: T = n·(1 + 0,05); gibridda tahlil yuklash bilan ustma-ust ketadi: T ≈ ⌈n/k⌉·1 s + jarayon yaratish ≈ 0,5 s.</a:t>
            </a:r>
            <a:endParaRPr lang="en-US" sz="13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Bu hisob-kitob, o‘lchov emas. Real natijalar tajribadan keyin shu slaydga kiritiladi.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9501B"/>
                </a:solidFill>
                <a:latin typeface="JetBrains Mono" pitchFamily="49" charset="0"/>
                <a:ea typeface="JetBrains Mono" pitchFamily="49" charset="-122"/>
                <a:cs typeface="JetBrains Mono" pitchFamily="49" charset="-120"/>
              </a:rPr>
              <a:t>CHEKLOVLAR</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Tezlashish cheksiz o‘smaydi</a:t>
            </a:r>
            <a:endParaRPr lang="en-US" sz="3600" dirty="0"/>
          </a:p>
        </p:txBody>
      </p:sp>
      <p:sp>
        <p:nvSpPr>
          <p:cNvPr id="4" name="Shape 2"/>
          <p:cNvSpPr/>
          <p:nvPr/>
        </p:nvSpPr>
        <p:spPr>
          <a:xfrm>
            <a:off x="815975" y="1938654"/>
            <a:ext cx="5175250" cy="1080770"/>
          </a:xfrm>
          <a:prstGeom prst="roundRect">
            <a:avLst>
              <a:gd name="adj" fmla="val 9107"/>
            </a:avLst>
          </a:prstGeom>
          <a:solidFill>
            <a:srgbClr val="FFFFFF"/>
          </a:solidFill>
          <a:ln w="6350">
            <a:solidFill>
              <a:srgbClr val="E1DED4"/>
            </a:solidFill>
            <a:prstDash val="solid"/>
          </a:ln>
        </p:spPr>
      </p:sp>
      <p:sp>
        <p:nvSpPr>
          <p:cNvPr id="5" name="Text 3"/>
          <p:cNvSpPr/>
          <p:nvPr/>
        </p:nvSpPr>
        <p:spPr>
          <a:xfrm>
            <a:off x="1071880" y="2194564"/>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Server va tarmoq</a:t>
            </a:r>
            <a:endParaRPr lang="en-US" sz="1600" dirty="0"/>
          </a:p>
        </p:txBody>
      </p:sp>
      <p:sp>
        <p:nvSpPr>
          <p:cNvPr id="6" name="Text 4"/>
          <p:cNvSpPr/>
          <p:nvPr/>
        </p:nvSpPr>
        <p:spPr>
          <a:xfrm>
            <a:off x="1071880" y="2514600"/>
            <a:ext cx="491617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Ko‘p oqim saytni bloklatishi yoki kanalni to‘ldirishi mumkin</a:t>
            </a:r>
            <a:endParaRPr lang="en-US" sz="1400" dirty="0"/>
          </a:p>
        </p:txBody>
      </p:sp>
      <p:sp>
        <p:nvSpPr>
          <p:cNvPr id="7" name="Shape 5"/>
          <p:cNvSpPr/>
          <p:nvPr/>
        </p:nvSpPr>
        <p:spPr>
          <a:xfrm>
            <a:off x="6200775" y="1938654"/>
            <a:ext cx="5175250" cy="1080770"/>
          </a:xfrm>
          <a:prstGeom prst="roundRect">
            <a:avLst>
              <a:gd name="adj" fmla="val 9107"/>
            </a:avLst>
          </a:prstGeom>
          <a:solidFill>
            <a:srgbClr val="FFFFFF"/>
          </a:solidFill>
          <a:ln w="6350">
            <a:solidFill>
              <a:srgbClr val="E1DED4"/>
            </a:solidFill>
            <a:prstDash val="solid"/>
          </a:ln>
        </p:spPr>
      </p:sp>
      <p:sp>
        <p:nvSpPr>
          <p:cNvPr id="8" name="Text 6"/>
          <p:cNvSpPr/>
          <p:nvPr/>
        </p:nvSpPr>
        <p:spPr>
          <a:xfrm>
            <a:off x="6456680" y="2194564"/>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Jarayon yaratish</a:t>
            </a:r>
            <a:endParaRPr lang="en-US" sz="1600" dirty="0"/>
          </a:p>
        </p:txBody>
      </p:sp>
      <p:sp>
        <p:nvSpPr>
          <p:cNvPr id="9" name="Text 7"/>
          <p:cNvSpPr/>
          <p:nvPr/>
        </p:nvSpPr>
        <p:spPr>
          <a:xfrm>
            <a:off x="6456680" y="2514600"/>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Windows’da spawn: har bir jarayon 0,1–0,5 s</a:t>
            </a:r>
            <a:endParaRPr lang="en-US" sz="1400" dirty="0"/>
          </a:p>
        </p:txBody>
      </p:sp>
      <p:sp>
        <p:nvSpPr>
          <p:cNvPr id="10" name="Shape 8"/>
          <p:cNvSpPr/>
          <p:nvPr/>
        </p:nvSpPr>
        <p:spPr>
          <a:xfrm>
            <a:off x="815975" y="3228975"/>
            <a:ext cx="5175250" cy="1080770"/>
          </a:xfrm>
          <a:prstGeom prst="roundRect">
            <a:avLst>
              <a:gd name="adj" fmla="val 9107"/>
            </a:avLst>
          </a:prstGeom>
          <a:solidFill>
            <a:srgbClr val="FFFFFF"/>
          </a:solidFill>
          <a:ln w="6350">
            <a:solidFill>
              <a:srgbClr val="E1DED4"/>
            </a:solidFill>
            <a:prstDash val="solid"/>
          </a:ln>
        </p:spPr>
      </p:sp>
      <p:sp>
        <p:nvSpPr>
          <p:cNvPr id="11" name="Text 9"/>
          <p:cNvSpPr/>
          <p:nvPr/>
        </p:nvSpPr>
        <p:spPr>
          <a:xfrm>
            <a:off x="1071880" y="3484879"/>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Ma’lumot uzatish</a:t>
            </a:r>
            <a:endParaRPr lang="en-US" sz="1600" dirty="0"/>
          </a:p>
        </p:txBody>
      </p:sp>
      <p:sp>
        <p:nvSpPr>
          <p:cNvPr id="12" name="Text 10"/>
          <p:cNvSpPr/>
          <p:nvPr/>
        </p:nvSpPr>
        <p:spPr>
          <a:xfrm>
            <a:off x="1071880" y="3804921"/>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HTML matni pickle qilinib jarayonga yuboriladi</a:t>
            </a:r>
            <a:endParaRPr lang="en-US" sz="1400" dirty="0"/>
          </a:p>
        </p:txBody>
      </p:sp>
      <p:sp>
        <p:nvSpPr>
          <p:cNvPr id="13" name="Shape 11"/>
          <p:cNvSpPr/>
          <p:nvPr/>
        </p:nvSpPr>
        <p:spPr>
          <a:xfrm>
            <a:off x="6200775" y="3228975"/>
            <a:ext cx="5175250" cy="1080770"/>
          </a:xfrm>
          <a:prstGeom prst="roundRect">
            <a:avLst>
              <a:gd name="adj" fmla="val 9107"/>
            </a:avLst>
          </a:prstGeom>
          <a:solidFill>
            <a:srgbClr val="FFFFFF"/>
          </a:solidFill>
          <a:ln w="6350">
            <a:solidFill>
              <a:srgbClr val="E1DED4"/>
            </a:solidFill>
            <a:prstDash val="solid"/>
          </a:ln>
        </p:spPr>
      </p:sp>
      <p:sp>
        <p:nvSpPr>
          <p:cNvPr id="14" name="Text 12"/>
          <p:cNvSpPr/>
          <p:nvPr/>
        </p:nvSpPr>
        <p:spPr>
          <a:xfrm>
            <a:off x="6456680" y="3484879"/>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Amdal qonuni</a:t>
            </a:r>
            <a:endParaRPr lang="en-US" sz="1600" dirty="0"/>
          </a:p>
        </p:txBody>
      </p:sp>
      <p:sp>
        <p:nvSpPr>
          <p:cNvPr id="15" name="Text 13"/>
          <p:cNvSpPr/>
          <p:nvPr/>
        </p:nvSpPr>
        <p:spPr>
          <a:xfrm>
            <a:off x="6456680" y="3804921"/>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Reduce bosqichi ketma-ket: S ≤ 1 / f</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8A4B"/>
                </a:solidFill>
                <a:latin typeface="JetBrains Mono" pitchFamily="49" charset="0"/>
                <a:ea typeface="JetBrains Mono" pitchFamily="49" charset="-122"/>
                <a:cs typeface="JetBrains Mono" pitchFamily="49" charset="-120"/>
              </a:rPr>
              <a:t>XULOSA</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6F1"/>
                </a:solidFill>
                <a:latin typeface="IBM Plex Sans" pitchFamily="34" charset="0"/>
                <a:ea typeface="IBM Plex Sans" pitchFamily="34" charset="-122"/>
                <a:cs typeface="IBM Plex Sans" pitchFamily="34" charset="-120"/>
              </a:rPr>
              <a:t>To‘g‘ri vosita — yuklama turiga qarab</a:t>
            </a:r>
            <a:endParaRPr lang="en-US" sz="3600" dirty="0"/>
          </a:p>
        </p:txBody>
      </p:sp>
      <p:sp>
        <p:nvSpPr>
          <p:cNvPr id="4" name="Text 2"/>
          <p:cNvSpPr/>
          <p:nvPr/>
        </p:nvSpPr>
        <p:spPr>
          <a:xfrm>
            <a:off x="812800" y="1986279"/>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8A4B"/>
                </a:solidFill>
                <a:latin typeface="JetBrains Mono" pitchFamily="49" charset="0"/>
                <a:ea typeface="JetBrains Mono" pitchFamily="49" charset="-122"/>
                <a:cs typeface="JetBrains Mono" pitchFamily="49" charset="-120"/>
              </a:rPr>
              <a:t>01</a:t>
            </a:r>
            <a:endParaRPr lang="en-US" sz="2200" dirty="0"/>
          </a:p>
        </p:txBody>
      </p:sp>
      <p:sp>
        <p:nvSpPr>
          <p:cNvPr id="5" name="Text 3"/>
          <p:cNvSpPr/>
          <p:nvPr/>
        </p:nvSpPr>
        <p:spPr>
          <a:xfrm>
            <a:off x="1351280" y="2037079"/>
            <a:ext cx="7957566"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7F6F1"/>
                </a:solidFill>
                <a:latin typeface="IBM Plex Sans" pitchFamily="34" charset="0"/>
                <a:ea typeface="IBM Plex Sans" pitchFamily="34" charset="-122"/>
                <a:cs typeface="IBM Plex Sans" pitchFamily="34" charset="-120"/>
              </a:rPr>
              <a:t>Kutish ko‘p bo‘lsa — oqimlar yoki asyncio: GIL to‘sqinlik qilmaydi.</a:t>
            </a:r>
            <a:endParaRPr lang="en-US" sz="1800" dirty="0"/>
          </a:p>
        </p:txBody>
      </p:sp>
      <p:sp>
        <p:nvSpPr>
          <p:cNvPr id="6" name="Text 4"/>
          <p:cNvSpPr/>
          <p:nvPr/>
        </p:nvSpPr>
        <p:spPr>
          <a:xfrm>
            <a:off x="812800" y="2580642"/>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6FA8EE"/>
                </a:solidFill>
                <a:latin typeface="JetBrains Mono" pitchFamily="49" charset="0"/>
                <a:ea typeface="JetBrains Mono" pitchFamily="49" charset="-122"/>
                <a:cs typeface="JetBrains Mono" pitchFamily="49" charset="-120"/>
              </a:rPr>
              <a:t>02</a:t>
            </a:r>
            <a:endParaRPr lang="en-US" sz="2200" dirty="0"/>
          </a:p>
        </p:txBody>
      </p:sp>
      <p:sp>
        <p:nvSpPr>
          <p:cNvPr id="7" name="Text 5"/>
          <p:cNvSpPr/>
          <p:nvPr/>
        </p:nvSpPr>
        <p:spPr>
          <a:xfrm>
            <a:off x="1351280" y="2631442"/>
            <a:ext cx="684733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7F6F1"/>
                </a:solidFill>
                <a:latin typeface="IBM Plex Sans" pitchFamily="34" charset="0"/>
                <a:ea typeface="IBM Plex Sans" pitchFamily="34" charset="-122"/>
                <a:cs typeface="IBM Plex Sans" pitchFamily="34" charset="-120"/>
              </a:rPr>
              <a:t>Hisoblash ko‘p bo‘lsa — jarayonlar, soni yadrolarga teng.</a:t>
            </a:r>
            <a:endParaRPr lang="en-US" sz="1800" dirty="0"/>
          </a:p>
        </p:txBody>
      </p:sp>
      <p:sp>
        <p:nvSpPr>
          <p:cNvPr id="8" name="Text 6"/>
          <p:cNvSpPr/>
          <p:nvPr/>
        </p:nvSpPr>
        <p:spPr>
          <a:xfrm>
            <a:off x="812800" y="3175000"/>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7F6F1"/>
                </a:solidFill>
                <a:latin typeface="JetBrains Mono" pitchFamily="49" charset="0"/>
                <a:ea typeface="JetBrains Mono" pitchFamily="49" charset="-122"/>
                <a:cs typeface="JetBrains Mono" pitchFamily="49" charset="-120"/>
              </a:rPr>
              <a:t>03</a:t>
            </a:r>
            <a:endParaRPr lang="en-US" sz="2200" dirty="0"/>
          </a:p>
        </p:txBody>
      </p:sp>
      <p:sp>
        <p:nvSpPr>
          <p:cNvPr id="9" name="Text 7"/>
          <p:cNvSpPr/>
          <p:nvPr/>
        </p:nvSpPr>
        <p:spPr>
          <a:xfrm>
            <a:off x="1351280" y="3225800"/>
            <a:ext cx="9329643"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7F6F1"/>
                </a:solidFill>
                <a:latin typeface="IBM Plex Sans" pitchFamily="34" charset="0"/>
                <a:ea typeface="IBM Plex Sans" pitchFamily="34" charset="-122"/>
                <a:cs typeface="IBM Plex Sans" pitchFamily="34" charset="-120"/>
              </a:rPr>
              <a:t>Navbatli konveyer ikkala bosqichni ustma-ust ishlatadi va xotirani cheklaydi.</a:t>
            </a:r>
            <a:endParaRPr lang="en-US" sz="1800" dirty="0"/>
          </a:p>
        </p:txBody>
      </p:sp>
      <p:sp>
        <p:nvSpPr>
          <p:cNvPr id="10" name="Text 8"/>
          <p:cNvSpPr/>
          <p:nvPr/>
        </p:nvSpPr>
        <p:spPr>
          <a:xfrm>
            <a:off x="812800" y="3769364"/>
            <a:ext cx="4023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7F6F1"/>
                </a:solidFill>
                <a:latin typeface="JetBrains Mono" pitchFamily="49" charset="0"/>
                <a:ea typeface="JetBrains Mono" pitchFamily="49" charset="-122"/>
                <a:cs typeface="JetBrains Mono" pitchFamily="49" charset="-120"/>
              </a:rPr>
              <a:t>04</a:t>
            </a:r>
            <a:endParaRPr lang="en-US" sz="2200" dirty="0"/>
          </a:p>
        </p:txBody>
      </p:sp>
      <p:sp>
        <p:nvSpPr>
          <p:cNvPr id="11" name="Text 9"/>
          <p:cNvSpPr/>
          <p:nvPr/>
        </p:nvSpPr>
        <p:spPr>
          <a:xfrm>
            <a:off x="1351280" y="3820164"/>
            <a:ext cx="676475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3E3"/>
                </a:solidFill>
                <a:latin typeface="IBM Plex Sans" pitchFamily="34" charset="0"/>
                <a:ea typeface="IBM Plex Sans" pitchFamily="34" charset="-122"/>
                <a:cs typeface="IBM Plex Sans" pitchFamily="34" charset="-120"/>
              </a:rPr>
              <a:t>Real tezlashish: [__]× — tajriba natijasi bilan to‘ldiriladi.</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5019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14213D"/>
                </a:solidFill>
                <a:latin typeface="IBM Plex Sans" pitchFamily="34" charset="0"/>
                <a:ea typeface="IBM Plex Sans" pitchFamily="34" charset="-122"/>
                <a:cs typeface="IBM Plex Sans" pitchFamily="34" charset="-120"/>
              </a:rPr>
              <a:t>E’tiboringiz uchun rahmat!</a:t>
            </a:r>
            <a:endParaRPr lang="en-US" sz="6000" dirty="0"/>
          </a:p>
        </p:txBody>
      </p:sp>
      <p:sp>
        <p:nvSpPr>
          <p:cNvPr id="3" name="Text 1"/>
          <p:cNvSpPr/>
          <p:nvPr/>
        </p:nvSpPr>
        <p:spPr>
          <a:xfrm>
            <a:off x="812800" y="3505200"/>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9501B"/>
                </a:solidFill>
                <a:latin typeface="IBM Plex Sans" pitchFamily="34" charset="0"/>
                <a:ea typeface="IBM Plex Sans" pitchFamily="34" charset="-122"/>
                <a:cs typeface="IBM Plex Sans" pitchFamily="34" charset="-120"/>
              </a:rPr>
              <a:t>Savollar?</a:t>
            </a:r>
            <a:endParaRPr lang="en-US" sz="2200" dirty="0"/>
          </a:p>
        </p:txBody>
      </p:sp>
    </p:spTree>
  </p:cSld>
  <p:clrMapOvr>
    <a:masterClrMapping/>
  </p:clrMapOvr>
</p:sld>
</file>

<file path=ppt/theme/theme1.xml><?xml version="1.0" encoding="utf-8"?>
<a:theme xmlns:a="http://schemas.openxmlformats.org/drawingml/2006/main" name="Parallel veb-skreyper va matn tahlili">
  <a:themeElements>
    <a:clrScheme name="Parallel veb-skreyper va matn tahlili">
      <a:dk1>
        <a:srgbClr val="14213D"/>
      </a:dk1>
      <a:lt1>
        <a:srgbClr val="F7F6F1"/>
      </a:lt1>
      <a:dk2>
        <a:srgbClr val="4D566A"/>
      </a:dk2>
      <a:lt2>
        <a:srgbClr val="E0E1DF"/>
      </a:lt2>
      <a:accent1>
        <a:srgbClr val="B9501B"/>
      </a:accent1>
      <a:accent2>
        <a:srgbClr val="1F5FAE"/>
      </a:accent2>
      <a:accent3>
        <a:srgbClr val="F08A4B"/>
      </a:accent3>
      <a:accent4>
        <a:srgbClr val="E86A2C"/>
      </a:accent4>
      <a:accent5>
        <a:srgbClr val="6FA8EE"/>
      </a:accent5>
      <a:accent6>
        <a:srgbClr val="4A5568"/>
      </a:accent6>
      <a:hlink>
        <a:srgbClr val="0563C1"/>
      </a:hlink>
      <a:folHlink>
        <a:srgbClr val="954F72"/>
      </a:folHlink>
    </a:clrScheme>
    <a:fontScheme name="Parallel veb-skreyper va matn tahlil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1858</Words>
  <Application>Microsoft Office PowerPoint</Application>
  <PresentationFormat>Широкоэкранный</PresentationFormat>
  <Paragraphs>206</Paragraphs>
  <Slides>14</Slides>
  <Notes>14</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14</vt:i4>
      </vt:variant>
    </vt:vector>
  </HeadingPairs>
  <TitlesOfParts>
    <vt:vector size="18" baseType="lpstr">
      <vt:lpstr>Arial</vt:lpstr>
      <vt:lpstr>IBM Plex Sans</vt:lpstr>
      <vt:lpstr>JetBrains Mono</vt:lpstr>
      <vt:lpstr>Parallel veb-skreyper va matn tahlili</vt:lpstr>
      <vt:lpstr>Parallel veb-skreyper va matn tahlili tizimi</vt:lpstr>
      <vt:lpstr>Ketma-ket skreyper vaqtining katta qismi kutish bilan o‘tadi</vt:lpstr>
      <vt:lpstr>Har bir yuklama turiga mos parallel vositani tanlash</vt:lpstr>
      <vt:lpstr>Ikki xil yuklama — ikki xil vosita</vt:lpstr>
      <vt:lpstr>Nega yuklashga oqim, tahlilga jarayon?</vt:lpstr>
      <vt:lpstr>Ishlab chiqaruvchi — iste’molchi konveyeri</vt:lpstr>
      <vt:lpstr>ThreadPoolExecutor bilan parallel yuklash</vt:lpstr>
      <vt:lpstr>ProcessPoolExecutor bilan map-reduce</vt:lpstr>
      <vt:lpstr>Oqim va jarayon xavfsizligi, odob qoidalari</vt:lpstr>
      <vt:lpstr>To‘rtta versiya bir xil URL ro‘yxatida o‘lchanadi</vt:lpstr>
      <vt:lpstr>Gibrid konveyer ~19 baravar tezroq bo‘lishi kutiladi</vt:lpstr>
      <vt:lpstr>Tezlashish cheksiz o‘smaydi</vt:lpstr>
      <vt:lpstr>To‘g‘ri vosita — yuklama turiga qarab</vt:lpstr>
      <vt:lpstr>E’tiboringiz uchun rahmat!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veb-skreyper va matn tahlili</dc:title>
  <dc:subject/>
  <dc:creator/>
  <cp:lastModifiedBy>Hacker El</cp:lastModifiedBy>
  <cp:revision>2</cp:revision>
  <dcterms:created xsi:type="dcterms:W3CDTF">2026-10-07T07:15:32Z</dcterms:created>
  <dcterms:modified xsi:type="dcterms:W3CDTF">2026-10-07T07:54:35Z</dcterms:modified>
</cp:coreProperties>
</file>